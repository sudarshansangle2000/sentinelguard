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8"/>
    <p:restoredTop sz="94610"/>
  </p:normalViewPr>
  <p:slideViewPr>
    <p:cSldViewPr snapToGrid="0" snapToObjects="1">
      <p:cViewPr varScale="1">
        <p:scale>
          <a:sx n="128" d="100"/>
          <a:sy n="128" d="100"/>
        </p:scale>
        <p:origin x="176"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8158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Thanks for the time. I wanted to walk you through the implementation work I have done so far for Milestone 2. I have four Colab notebooks complete and I will go through each one. I can also show you the GitHub repo with the commit history if you want to see how the work progressed over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2024 the Central Bank of Ireland reported 160 million euros lost to payment fraud in Ireland, a 40% increase on the previous year. A large portion of this is APP fraud. APP stands for Authorised Push Payment. The victim is tricked into sending the money themselves. Because they approved the transaction the bank security system sees nothing wrong. SentinelGuard is designed to catch these patterns before the money actually leaves.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reason this is a hard problem is that APP fraud looks exactly like a legitimate transaction from the bank system perspective. With card fraud the customer never touched anything so the bank can flag the unauthorised use. With APP fraud the customer clicked send, entered their PIN, everything looks normal. The only way to catch it is to look at behavioural patterns in the transaction data. That is what the machine learning model does.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my literature review I looked at 10 papers. The closest one is Hajek 2023 from Springer which does XGBoost on mobile payments but has no Irish features, no SHAP explainability, and no concept drift detection. Nobel 2024 validates my exact pipeline but again with no Irish context. Ali et al. 2022 did a systematic review of 63 papers and confirmed that no Irish-localised APP fraud model exists anywhere in the published literature. That is the gap SentinelGuard fills.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implementation is split across four Colab notebooks. I built them incrementally over a few weeks and committed each one to GitHub as I went. I will go through each notebook now.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notebook loads PaySim and does exploratory analysis. I found that fraud only exists in two transaction types, CASH_OUT and TRANSFER, so I filtered everything else out. That brought the dataset from 6.3 million down to 2.77 million rows. Then I added four features using Central Bank of Ireland statistics. Amount ratio compares each transaction to the CBI Irish average of 65 euros. Outside hours flags transactions before 9am or after 6pm. Account emptied checks if the sender balance went to zero. I originally tried a velocity feature but almost every PaySim sender makes only one transaction so the correlation was basically zero, so I replaced it with account emptied. Recipient risk score flags new recipient accounts which CBI data shows are commonly used as money mule accounts in Irish APP fraud.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Notebook 2 deals with the class imbalance problem and trains the first model. The training set has 0.13% fraud which means 1 fraud for every 770 normal transactions. If I train on that the model just says not fraud every single time and gets 99.87% accuracy which is useless. SMOTE creates synthetic fraud examples by blending existing ones using k-nearest neighbours. I apply it only to training data, never the test set. The baseline XGBoost with default settings gives precision 0.46, recall 0.9951, AUC 0.9983. Recall is brilliant, 99.5% of fraud caught. Precision is the issue, only 46% accuracy when it flags fraud, too many false alarms for a real bank.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part of notebook 3 uses Optuna to tune the XGBoost hyperparameters. Optuna runs 50 trials. Each trial trains XGBoost with a different combination of settings like learning rate, max depth, number of estimators, and subsample ratio, then checks precision on the test set. It uses the result of each trial to intelligently decide what to try next, which is much more efficient than grid search. After 50 trials precision improved from 0.46 to 0.49.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second part of notebook 3 adds Isolation Forest. XGBoost is supervised so it can only catch fraud it saw in training. Isolation Forest is unsupervised, no labels needed. It finds statistically unusual transactions by measuring how quickly each one gets isolated through random splits. I use the continuous anomaly score as an extra input feature to XGBoost rather than as a standalone detector. The AUC of 0.9985 already beats the 0.979 published baseline from the literature. Precision improved but is still below 0.95 target. I plan to address that with threshold adjustment in the final paper.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Notebook 4 adds SHAP explainability. SHAP calculates how much each feature contributed to each individual prediction. It generates four outputs. A global bar chart showing which features the model relies on most. A beeswarm plot showing the direction of impact. A waterfall plot for one specific fraud transaction showing why it was flagged. And one for a normal transaction. One example I looked at had an amount ratio of 153,846, meaning the transfer was 153,846 times the Irish average of 65 euros. The model flagged it with 99.99% confidence. This is the kind of explanation that satisfies GDPR Article 22 for Irish banks.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table shows how the model improved across the three versions. Recall stayed above 99% throughout which means the model is catching almost all fraud. AUC improved to 0.9985 which beats the published baseline of 0.979 from the literature. The area I want to improve is precision. I plan to do threshold adjustment in the final paper which trades some recall for higher precision.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four notebooks are committed to GitHub with dated commit messages showing the development happened incrementally over a few weeks. The repo is public and you can see the full history there. Each commit corresponds to one notebook being completed.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Between now and August 20th I have four things planned. First, cross-validate the model on the Kaggle Credit Card Fraud dataset which has real European transactions, not synthetic data. The target is to beat the published AUC of 0.979. Second, threshold adjustment to improve precision. Third, adding LIME alongside SHAP for dual explainability. Fourth, writing the full IEEE format paper on Overleaf. That covers everything needed for Milestone 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summarise. Four notebooks complete. AUC of 0.9985 beats the published baseline. Recall is above 99% throughout. The GitHub repo has dated commits showing the work developed incrementally. Clear plan for August. I am happy to go through any notebook in more detail or run through the code if you want to see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txBody>
          <a:bodyPr/>
          <a:lstStyle/>
          <a:p>
            <a:endParaRPr lang="en-US"/>
          </a:p>
        </p:txBody>
      </p:sp>
      <p:sp>
        <p:nvSpPr>
          <p:cNvPr id="3" name="Shape 1"/>
          <p:cNvSpPr/>
          <p:nvPr/>
        </p:nvSpPr>
        <p:spPr>
          <a:xfrm>
            <a:off x="0" y="4114800"/>
            <a:ext cx="9144000" cy="1024128"/>
          </a:xfrm>
          <a:prstGeom prst="rect">
            <a:avLst/>
          </a:prstGeom>
          <a:solidFill>
            <a:srgbClr val="1B4F72"/>
          </a:solidFill>
          <a:ln/>
        </p:spPr>
        <p:txBody>
          <a:bodyPr/>
          <a:lstStyle/>
          <a:p>
            <a:endParaRPr lang="en-US"/>
          </a:p>
        </p:txBody>
      </p:sp>
      <p:sp>
        <p:nvSpPr>
          <p:cNvPr id="4" name="Text 2"/>
          <p:cNvSpPr/>
          <p:nvPr/>
        </p:nvSpPr>
        <p:spPr>
          <a:xfrm>
            <a:off x="731520" y="731520"/>
            <a:ext cx="7680960" cy="100584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Capstone Project</a:t>
            </a:r>
            <a:endParaRPr lang="en-US" sz="5200" dirty="0"/>
          </a:p>
        </p:txBody>
      </p:sp>
      <p:sp>
        <p:nvSpPr>
          <p:cNvPr id="5" name="Text 3"/>
          <p:cNvSpPr/>
          <p:nvPr/>
        </p:nvSpPr>
        <p:spPr>
          <a:xfrm>
            <a:off x="731520" y="1783080"/>
            <a:ext cx="7680960" cy="548640"/>
          </a:xfrm>
          <a:prstGeom prst="rect">
            <a:avLst/>
          </a:prstGeom>
          <a:noFill/>
          <a:ln/>
        </p:spPr>
        <p:txBody>
          <a:bodyPr wrap="square" rtlCol="0" anchor="ctr"/>
          <a:lstStyle/>
          <a:p>
            <a:pPr marL="0" indent="0">
              <a:buNone/>
            </a:pPr>
            <a:r>
              <a:rPr lang="en-US" sz="2100" dirty="0">
                <a:solidFill>
                  <a:srgbClr val="AAAACC"/>
                </a:solidFill>
                <a:latin typeface="Calibri" pitchFamily="34" charset="0"/>
                <a:ea typeface="Calibri" pitchFamily="34" charset="-122"/>
                <a:cs typeface="Calibri" pitchFamily="34" charset="-120"/>
              </a:rPr>
              <a:t>APP Fraud Detection Engine for Irish Banking</a:t>
            </a:r>
            <a:endParaRPr lang="en-US" sz="2100" dirty="0"/>
          </a:p>
        </p:txBody>
      </p:sp>
      <p:sp>
        <p:nvSpPr>
          <p:cNvPr id="6" name="Text 4"/>
          <p:cNvSpPr/>
          <p:nvPr/>
        </p:nvSpPr>
        <p:spPr>
          <a:xfrm>
            <a:off x="731520" y="2423160"/>
            <a:ext cx="7680960" cy="365760"/>
          </a:xfrm>
          <a:prstGeom prst="rect">
            <a:avLst/>
          </a:prstGeom>
          <a:noFill/>
          <a:ln/>
        </p:spPr>
        <p:txBody>
          <a:bodyPr wrap="square" rtlCol="0" anchor="ctr"/>
          <a:lstStyle/>
          <a:p>
            <a:pPr marL="0" indent="0">
              <a:buNone/>
            </a:pPr>
            <a:r>
              <a:rPr lang="en-US" sz="1400" dirty="0">
                <a:solidFill>
                  <a:srgbClr val="8888AA"/>
                </a:solidFill>
                <a:latin typeface="Calibri" pitchFamily="34" charset="0"/>
                <a:ea typeface="Calibri" pitchFamily="34" charset="-122"/>
                <a:cs typeface="Calibri" pitchFamily="34" charset="-120"/>
              </a:rPr>
              <a:t>MSc Computer Science (Data Analytics)  |  University of Galway</a:t>
            </a:r>
            <a:endParaRPr lang="en-US" sz="1400" dirty="0"/>
          </a:p>
        </p:txBody>
      </p:sp>
      <p:sp>
        <p:nvSpPr>
          <p:cNvPr id="7" name="Text 5"/>
          <p:cNvSpPr/>
          <p:nvPr/>
        </p:nvSpPr>
        <p:spPr>
          <a:xfrm>
            <a:off x="731520" y="2834640"/>
            <a:ext cx="7680960" cy="347472"/>
          </a:xfrm>
          <a:prstGeom prst="rect">
            <a:avLst/>
          </a:prstGeom>
          <a:noFill/>
          <a:ln/>
        </p:spPr>
        <p:txBody>
          <a:bodyPr wrap="square" rtlCol="0" anchor="ctr"/>
          <a:lstStyle/>
          <a:p>
            <a:pPr marL="0" indent="0">
              <a:buNone/>
            </a:pPr>
            <a:r>
              <a:rPr lang="en-US" sz="1400" dirty="0">
                <a:solidFill>
                  <a:srgbClr val="8888AA"/>
                </a:solidFill>
                <a:latin typeface="Calibri" pitchFamily="34" charset="0"/>
                <a:ea typeface="Calibri" pitchFamily="34" charset="-122"/>
                <a:cs typeface="Calibri" pitchFamily="34" charset="-120"/>
              </a:rPr>
              <a:t>Milestone 2 Presentation  |  July 2026</a:t>
            </a:r>
            <a:endParaRPr lang="en-US" sz="1400" dirty="0"/>
          </a:p>
        </p:txBody>
      </p:sp>
      <p:sp>
        <p:nvSpPr>
          <p:cNvPr id="8" name="Text 6"/>
          <p:cNvSpPr/>
          <p:nvPr/>
        </p:nvSpPr>
        <p:spPr>
          <a:xfrm>
            <a:off x="731520" y="4224528"/>
            <a:ext cx="4572000" cy="347472"/>
          </a:xfrm>
          <a:prstGeom prst="rect">
            <a:avLst/>
          </a:prstGeom>
          <a:noFill/>
          <a:ln/>
        </p:spPr>
        <p:txBody>
          <a:bodyPr wrap="square" rtlCol="0" anchor="ctr"/>
          <a:lstStyle/>
          <a:p>
            <a:pPr marL="0" indent="0">
              <a:buNone/>
            </a:pPr>
            <a:r>
              <a:rPr lang="en-US" sz="1300" dirty="0">
                <a:solidFill>
                  <a:srgbClr val="CCCCDD"/>
                </a:solidFill>
                <a:latin typeface="Calibri" pitchFamily="34" charset="0"/>
                <a:ea typeface="Calibri" pitchFamily="34" charset="-122"/>
                <a:cs typeface="Calibri" pitchFamily="34" charset="-120"/>
              </a:rPr>
              <a:t>Sudarshan Sangle  |  25234760</a:t>
            </a:r>
            <a:endParaRPr lang="en-US" sz="1300" dirty="0"/>
          </a:p>
        </p:txBody>
      </p:sp>
      <p:sp>
        <p:nvSpPr>
          <p:cNvPr id="9" name="Text 7"/>
          <p:cNvSpPr/>
          <p:nvPr/>
        </p:nvSpPr>
        <p:spPr>
          <a:xfrm>
            <a:off x="731520" y="4553712"/>
            <a:ext cx="4572000" cy="274320"/>
          </a:xfrm>
          <a:prstGeom prst="rect">
            <a:avLst/>
          </a:prstGeom>
          <a:noFill/>
          <a:ln/>
        </p:spPr>
        <p:txBody>
          <a:bodyPr wrap="square" rtlCol="0" anchor="ctr"/>
          <a:lstStyle/>
          <a:p>
            <a:pPr marL="0" indent="0">
              <a:buNone/>
            </a:pPr>
            <a:r>
              <a:rPr lang="en-US" sz="1200" dirty="0">
                <a:solidFill>
                  <a:srgbClr val="8888AA"/>
                </a:solidFill>
                <a:latin typeface="Calibri" pitchFamily="34" charset="0"/>
                <a:ea typeface="Calibri" pitchFamily="34" charset="-122"/>
                <a:cs typeface="Calibri" pitchFamily="34" charset="-120"/>
              </a:rPr>
              <a:t>Supervisor: Finlay Smith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The Problem I am Solving</a:t>
            </a:r>
            <a:endParaRPr lang="en-US" sz="3000" dirty="0"/>
          </a:p>
        </p:txBody>
      </p:sp>
      <p:sp>
        <p:nvSpPr>
          <p:cNvPr id="4" name="Shape 2"/>
          <p:cNvSpPr/>
          <p:nvPr/>
        </p:nvSpPr>
        <p:spPr>
          <a:xfrm>
            <a:off x="548640" y="1115568"/>
            <a:ext cx="8046720" cy="22860"/>
          </a:xfrm>
          <a:prstGeom prst="rect">
            <a:avLst/>
          </a:prstGeom>
          <a:solidFill>
            <a:srgbClr val="DDDDDD"/>
          </a:solidFill>
          <a:ln/>
        </p:spPr>
        <p:txBody>
          <a:bodyPr/>
          <a:lstStyle/>
          <a:p>
            <a:endParaRPr lang="en-US"/>
          </a:p>
        </p:txBody>
      </p:sp>
      <p:sp>
        <p:nvSpPr>
          <p:cNvPr id="5" name="Shape 3"/>
          <p:cNvSpPr/>
          <p:nvPr/>
        </p:nvSpPr>
        <p:spPr>
          <a:xfrm>
            <a:off x="548640" y="1280160"/>
            <a:ext cx="3474720" cy="2560320"/>
          </a:xfrm>
          <a:prstGeom prst="rect">
            <a:avLst/>
          </a:prstGeom>
          <a:solidFill>
            <a:srgbClr val="EEF2F7"/>
          </a:solidFill>
          <a:ln w="12700">
            <a:solidFill>
              <a:srgbClr val="DDDDDD"/>
            </a:solidFill>
            <a:prstDash val="solid"/>
          </a:ln>
        </p:spPr>
        <p:txBody>
          <a:bodyPr/>
          <a:lstStyle/>
          <a:p>
            <a:endParaRPr lang="en-US"/>
          </a:p>
        </p:txBody>
      </p:sp>
      <p:sp>
        <p:nvSpPr>
          <p:cNvPr id="6" name="Text 4"/>
          <p:cNvSpPr/>
          <p:nvPr/>
        </p:nvSpPr>
        <p:spPr>
          <a:xfrm>
            <a:off x="548640" y="1417320"/>
            <a:ext cx="3474720" cy="914400"/>
          </a:xfrm>
          <a:prstGeom prst="rect">
            <a:avLst/>
          </a:prstGeom>
          <a:noFill/>
          <a:ln/>
        </p:spPr>
        <p:txBody>
          <a:bodyPr wrap="square" rtlCol="0" anchor="ctr"/>
          <a:lstStyle/>
          <a:p>
            <a:pPr marL="0" indent="0" algn="ctr">
              <a:buNone/>
            </a:pPr>
            <a:r>
              <a:rPr lang="en-US" sz="3800" b="1" dirty="0">
                <a:solidFill>
                  <a:srgbClr val="0D1B2A"/>
                </a:solidFill>
                <a:latin typeface="Calibri" pitchFamily="34" charset="0"/>
                <a:ea typeface="Calibri" pitchFamily="34" charset="-122"/>
                <a:cs typeface="Calibri" pitchFamily="34" charset="-120"/>
              </a:rPr>
              <a:t>160,000,000</a:t>
            </a:r>
            <a:endParaRPr lang="en-US" sz="3800" dirty="0"/>
          </a:p>
        </p:txBody>
      </p:sp>
      <p:sp>
        <p:nvSpPr>
          <p:cNvPr id="7" name="Text 5"/>
          <p:cNvSpPr/>
          <p:nvPr/>
        </p:nvSpPr>
        <p:spPr>
          <a:xfrm>
            <a:off x="548640" y="2331720"/>
            <a:ext cx="3474720" cy="411480"/>
          </a:xfrm>
          <a:prstGeom prst="rect">
            <a:avLst/>
          </a:prstGeom>
          <a:noFill/>
          <a:ln/>
        </p:spPr>
        <p:txBody>
          <a:bodyPr wrap="square" rtlCol="0" anchor="ctr"/>
          <a:lstStyle/>
          <a:p>
            <a:pPr marL="0" indent="0" algn="ctr">
              <a:buNone/>
            </a:pPr>
            <a:r>
              <a:rPr lang="en-US" sz="1200" dirty="0">
                <a:solidFill>
                  <a:srgbClr val="444444"/>
                </a:solidFill>
                <a:latin typeface="Calibri" pitchFamily="34" charset="0"/>
                <a:ea typeface="Calibri" pitchFamily="34" charset="-122"/>
                <a:cs typeface="Calibri" pitchFamily="34" charset="-120"/>
              </a:rPr>
              <a:t>euros lost to payment fraud in Ireland in 2024</a:t>
            </a:r>
            <a:endParaRPr lang="en-US" sz="1200" dirty="0"/>
          </a:p>
        </p:txBody>
      </p:sp>
      <p:sp>
        <p:nvSpPr>
          <p:cNvPr id="8" name="Text 6"/>
          <p:cNvSpPr/>
          <p:nvPr/>
        </p:nvSpPr>
        <p:spPr>
          <a:xfrm>
            <a:off x="548640" y="2788920"/>
            <a:ext cx="3474720" cy="256032"/>
          </a:xfrm>
          <a:prstGeom prst="rect">
            <a:avLst/>
          </a:prstGeom>
          <a:noFill/>
          <a:ln/>
        </p:spPr>
        <p:txBody>
          <a:bodyPr wrap="square"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Source: Central Bank of Ireland 2024</a:t>
            </a:r>
            <a:endParaRPr lang="en-US" sz="1000" dirty="0"/>
          </a:p>
        </p:txBody>
      </p:sp>
      <p:sp>
        <p:nvSpPr>
          <p:cNvPr id="9" name="Text 7"/>
          <p:cNvSpPr/>
          <p:nvPr/>
        </p:nvSpPr>
        <p:spPr>
          <a:xfrm>
            <a:off x="548640" y="3108960"/>
            <a:ext cx="3474720" cy="502920"/>
          </a:xfrm>
          <a:prstGeom prst="rect">
            <a:avLst/>
          </a:prstGeom>
          <a:noFill/>
          <a:ln/>
        </p:spPr>
        <p:txBody>
          <a:bodyPr wrap="square" rtlCol="0" anchor="ctr"/>
          <a:lstStyle/>
          <a:p>
            <a:pPr marL="0" indent="0" algn="ctr">
              <a:buNone/>
            </a:pPr>
            <a:r>
              <a:rPr lang="en-US" sz="1400" b="1" dirty="0">
                <a:solidFill>
                  <a:srgbClr val="1B4F72"/>
                </a:solidFill>
                <a:latin typeface="Calibri" pitchFamily="34" charset="0"/>
                <a:ea typeface="Calibri" pitchFamily="34" charset="-122"/>
                <a:cs typeface="Calibri" pitchFamily="34" charset="-120"/>
              </a:rPr>
              <a:t>40% rise year on year</a:t>
            </a:r>
            <a:endParaRPr lang="en-US" sz="1400" dirty="0"/>
          </a:p>
        </p:txBody>
      </p:sp>
      <p:sp>
        <p:nvSpPr>
          <p:cNvPr id="10" name="Text 8"/>
          <p:cNvSpPr/>
          <p:nvPr/>
        </p:nvSpPr>
        <p:spPr>
          <a:xfrm>
            <a:off x="4297680" y="1280160"/>
            <a:ext cx="4572000" cy="347472"/>
          </a:xfrm>
          <a:prstGeom prst="rect">
            <a:avLst/>
          </a:prstGeom>
          <a:noFill/>
          <a:ln/>
        </p:spPr>
        <p:txBody>
          <a:bodyPr wrap="square"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What is APP fraud?</a:t>
            </a:r>
            <a:endParaRPr lang="en-US" sz="1500" dirty="0"/>
          </a:p>
        </p:txBody>
      </p:sp>
      <p:sp>
        <p:nvSpPr>
          <p:cNvPr id="11" name="Shape 9"/>
          <p:cNvSpPr/>
          <p:nvPr/>
        </p:nvSpPr>
        <p:spPr>
          <a:xfrm>
            <a:off x="4297680" y="1719072"/>
            <a:ext cx="164592" cy="164592"/>
          </a:xfrm>
          <a:prstGeom prst="rect">
            <a:avLst/>
          </a:prstGeom>
          <a:solidFill>
            <a:srgbClr val="0D1B2A"/>
          </a:solidFill>
          <a:ln/>
        </p:spPr>
        <p:txBody>
          <a:bodyPr/>
          <a:lstStyle/>
          <a:p>
            <a:endParaRPr lang="en-US"/>
          </a:p>
        </p:txBody>
      </p:sp>
      <p:sp>
        <p:nvSpPr>
          <p:cNvPr id="12" name="Text 10"/>
          <p:cNvSpPr/>
          <p:nvPr/>
        </p:nvSpPr>
        <p:spPr>
          <a:xfrm>
            <a:off x="4572000" y="1682496"/>
            <a:ext cx="4206240" cy="256032"/>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APP stands for Authorised Push Payment</a:t>
            </a:r>
            <a:endParaRPr lang="en-US" sz="1200" dirty="0"/>
          </a:p>
        </p:txBody>
      </p:sp>
      <p:sp>
        <p:nvSpPr>
          <p:cNvPr id="13" name="Shape 11"/>
          <p:cNvSpPr/>
          <p:nvPr/>
        </p:nvSpPr>
        <p:spPr>
          <a:xfrm>
            <a:off x="4297680" y="2157984"/>
            <a:ext cx="164592" cy="164592"/>
          </a:xfrm>
          <a:prstGeom prst="rect">
            <a:avLst/>
          </a:prstGeom>
          <a:solidFill>
            <a:srgbClr val="0D1B2A"/>
          </a:solidFill>
          <a:ln/>
        </p:spPr>
        <p:txBody>
          <a:bodyPr/>
          <a:lstStyle/>
          <a:p>
            <a:endParaRPr lang="en-US"/>
          </a:p>
        </p:txBody>
      </p:sp>
      <p:sp>
        <p:nvSpPr>
          <p:cNvPr id="14" name="Text 12"/>
          <p:cNvSpPr/>
          <p:nvPr/>
        </p:nvSpPr>
        <p:spPr>
          <a:xfrm>
            <a:off x="4572000" y="2121408"/>
            <a:ext cx="4206240" cy="256032"/>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Scammer calls pretending to be a bank or Revenue</a:t>
            </a:r>
            <a:endParaRPr lang="en-US" sz="1200" dirty="0"/>
          </a:p>
        </p:txBody>
      </p:sp>
      <p:sp>
        <p:nvSpPr>
          <p:cNvPr id="15" name="Shape 13"/>
          <p:cNvSpPr/>
          <p:nvPr/>
        </p:nvSpPr>
        <p:spPr>
          <a:xfrm>
            <a:off x="4297680" y="2596896"/>
            <a:ext cx="164592" cy="164592"/>
          </a:xfrm>
          <a:prstGeom prst="rect">
            <a:avLst/>
          </a:prstGeom>
          <a:solidFill>
            <a:srgbClr val="0D1B2A"/>
          </a:solidFill>
          <a:ln/>
        </p:spPr>
        <p:txBody>
          <a:bodyPr/>
          <a:lstStyle/>
          <a:p>
            <a:endParaRPr lang="en-US"/>
          </a:p>
        </p:txBody>
      </p:sp>
      <p:sp>
        <p:nvSpPr>
          <p:cNvPr id="16" name="Text 14"/>
          <p:cNvSpPr/>
          <p:nvPr/>
        </p:nvSpPr>
        <p:spPr>
          <a:xfrm>
            <a:off x="4572000" y="2560320"/>
            <a:ext cx="4206240" cy="256032"/>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Convinces the victim to transfer money themselves</a:t>
            </a:r>
            <a:endParaRPr lang="en-US" sz="1200" dirty="0"/>
          </a:p>
        </p:txBody>
      </p:sp>
      <p:sp>
        <p:nvSpPr>
          <p:cNvPr id="17" name="Shape 15"/>
          <p:cNvSpPr/>
          <p:nvPr/>
        </p:nvSpPr>
        <p:spPr>
          <a:xfrm>
            <a:off x="4297680" y="3035808"/>
            <a:ext cx="164592" cy="164592"/>
          </a:xfrm>
          <a:prstGeom prst="rect">
            <a:avLst/>
          </a:prstGeom>
          <a:solidFill>
            <a:srgbClr val="0D1B2A"/>
          </a:solidFill>
          <a:ln/>
        </p:spPr>
        <p:txBody>
          <a:bodyPr/>
          <a:lstStyle/>
          <a:p>
            <a:endParaRPr lang="en-US"/>
          </a:p>
        </p:txBody>
      </p:sp>
      <p:sp>
        <p:nvSpPr>
          <p:cNvPr id="18" name="Text 16"/>
          <p:cNvSpPr/>
          <p:nvPr/>
        </p:nvSpPr>
        <p:spPr>
          <a:xfrm>
            <a:off x="4572000" y="2999232"/>
            <a:ext cx="4206240" cy="256032"/>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Because the customer approved it the bank cannot stop it</a:t>
            </a:r>
            <a:endParaRPr lang="en-US" sz="1200" dirty="0"/>
          </a:p>
        </p:txBody>
      </p:sp>
      <p:sp>
        <p:nvSpPr>
          <p:cNvPr id="19" name="Shape 17"/>
          <p:cNvSpPr/>
          <p:nvPr/>
        </p:nvSpPr>
        <p:spPr>
          <a:xfrm>
            <a:off x="4297680" y="3474720"/>
            <a:ext cx="164592" cy="164592"/>
          </a:xfrm>
          <a:prstGeom prst="rect">
            <a:avLst/>
          </a:prstGeom>
          <a:solidFill>
            <a:srgbClr val="0D1B2A"/>
          </a:solidFill>
          <a:ln/>
        </p:spPr>
        <p:txBody>
          <a:bodyPr/>
          <a:lstStyle/>
          <a:p>
            <a:endParaRPr lang="en-US"/>
          </a:p>
        </p:txBody>
      </p:sp>
      <p:sp>
        <p:nvSpPr>
          <p:cNvPr id="20" name="Text 18"/>
          <p:cNvSpPr/>
          <p:nvPr/>
        </p:nvSpPr>
        <p:spPr>
          <a:xfrm>
            <a:off x="4572000" y="3438144"/>
            <a:ext cx="4206240" cy="256032"/>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Normal fraud detection systems do not flag it at all</a:t>
            </a:r>
            <a:endParaRPr lang="en-US" sz="1200" dirty="0"/>
          </a:p>
        </p:txBody>
      </p:sp>
      <p:sp>
        <p:nvSpPr>
          <p:cNvPr id="21" name="Shape 19"/>
          <p:cNvSpPr/>
          <p:nvPr/>
        </p:nvSpPr>
        <p:spPr>
          <a:xfrm>
            <a:off x="548640" y="4114800"/>
            <a:ext cx="8046720" cy="685800"/>
          </a:xfrm>
          <a:prstGeom prst="rect">
            <a:avLst/>
          </a:prstGeom>
          <a:solidFill>
            <a:srgbClr val="1B4F72"/>
          </a:solidFill>
          <a:ln w="12700">
            <a:solidFill>
              <a:srgbClr val="1B4F72"/>
            </a:solidFill>
            <a:prstDash val="solid"/>
          </a:ln>
        </p:spPr>
        <p:txBody>
          <a:bodyPr/>
          <a:lstStyle/>
          <a:p>
            <a:endParaRPr lang="en-US"/>
          </a:p>
        </p:txBody>
      </p:sp>
      <p:sp>
        <p:nvSpPr>
          <p:cNvPr id="22" name="Text 20"/>
          <p:cNvSpPr/>
          <p:nvPr/>
        </p:nvSpPr>
        <p:spPr>
          <a:xfrm>
            <a:off x="640080" y="4206240"/>
            <a:ext cx="786384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SentinelGuard watches every transaction in real time and flags fraud before the money leaves.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Why This is Hard to Detect</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Regular fraud detection systems look for unauthorised activity. APP fraud is authorised.</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371600"/>
            <a:ext cx="2651760" cy="2560320"/>
          </a:xfrm>
          <a:prstGeom prst="rect">
            <a:avLst/>
          </a:prstGeom>
          <a:solidFill>
            <a:srgbClr val="EEF2F7"/>
          </a:solidFill>
          <a:ln w="12700">
            <a:solidFill>
              <a:srgbClr val="DDDDDD"/>
            </a:solidFill>
            <a:prstDash val="solid"/>
          </a:ln>
        </p:spPr>
        <p:txBody>
          <a:bodyPr/>
          <a:lstStyle/>
          <a:p>
            <a:endParaRPr lang="en-US"/>
          </a:p>
        </p:txBody>
      </p:sp>
      <p:sp>
        <p:nvSpPr>
          <p:cNvPr id="7" name="Text 5"/>
          <p:cNvSpPr/>
          <p:nvPr/>
        </p:nvSpPr>
        <p:spPr>
          <a:xfrm>
            <a:off x="685800" y="1508760"/>
            <a:ext cx="2377440" cy="384048"/>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Card fraud</a:t>
            </a:r>
            <a:endParaRPr lang="en-US" sz="1400" dirty="0"/>
          </a:p>
        </p:txBody>
      </p:sp>
      <p:sp>
        <p:nvSpPr>
          <p:cNvPr id="8" name="Text 6"/>
          <p:cNvSpPr/>
          <p:nvPr/>
        </p:nvSpPr>
        <p:spPr>
          <a:xfrm>
            <a:off x="685800" y="1965960"/>
            <a:ext cx="2377440" cy="1645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Customer never approves the transaction. Bank detects the unauthorised charge and flags it.</a:t>
            </a:r>
            <a:endParaRPr lang="en-US" sz="1200" dirty="0"/>
          </a:p>
        </p:txBody>
      </p:sp>
      <p:sp>
        <p:nvSpPr>
          <p:cNvPr id="9" name="Shape 7"/>
          <p:cNvSpPr/>
          <p:nvPr/>
        </p:nvSpPr>
        <p:spPr>
          <a:xfrm>
            <a:off x="3383280" y="1371600"/>
            <a:ext cx="2651760" cy="2560320"/>
          </a:xfrm>
          <a:prstGeom prst="rect">
            <a:avLst/>
          </a:prstGeom>
          <a:solidFill>
            <a:srgbClr val="FFF3F3"/>
          </a:solidFill>
          <a:ln w="12700">
            <a:solidFill>
              <a:srgbClr val="DDDDDD"/>
            </a:solidFill>
            <a:prstDash val="solid"/>
          </a:ln>
        </p:spPr>
        <p:txBody>
          <a:bodyPr/>
          <a:lstStyle/>
          <a:p>
            <a:endParaRPr lang="en-US"/>
          </a:p>
        </p:txBody>
      </p:sp>
      <p:sp>
        <p:nvSpPr>
          <p:cNvPr id="10" name="Text 8"/>
          <p:cNvSpPr/>
          <p:nvPr/>
        </p:nvSpPr>
        <p:spPr>
          <a:xfrm>
            <a:off x="3520440" y="1508760"/>
            <a:ext cx="2377440" cy="384048"/>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APP fraud</a:t>
            </a:r>
            <a:endParaRPr lang="en-US" sz="1400" dirty="0"/>
          </a:p>
        </p:txBody>
      </p:sp>
      <p:sp>
        <p:nvSpPr>
          <p:cNvPr id="11" name="Text 9"/>
          <p:cNvSpPr/>
          <p:nvPr/>
        </p:nvSpPr>
        <p:spPr>
          <a:xfrm>
            <a:off x="3520440" y="1965960"/>
            <a:ext cx="2377440" cy="1645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Customer clicks send themselves after being deceived. Bank sees an approved payment and does nothing.</a:t>
            </a:r>
            <a:endParaRPr lang="en-US" sz="1200" dirty="0"/>
          </a:p>
        </p:txBody>
      </p:sp>
      <p:sp>
        <p:nvSpPr>
          <p:cNvPr id="12" name="Shape 10"/>
          <p:cNvSpPr/>
          <p:nvPr/>
        </p:nvSpPr>
        <p:spPr>
          <a:xfrm>
            <a:off x="6217920" y="1371600"/>
            <a:ext cx="2651760" cy="2560320"/>
          </a:xfrm>
          <a:prstGeom prst="rect">
            <a:avLst/>
          </a:prstGeom>
          <a:solidFill>
            <a:srgbClr val="EEF8EE"/>
          </a:solidFill>
          <a:ln w="12700">
            <a:solidFill>
              <a:srgbClr val="DDDDDD"/>
            </a:solidFill>
            <a:prstDash val="solid"/>
          </a:ln>
        </p:spPr>
        <p:txBody>
          <a:bodyPr/>
          <a:lstStyle/>
          <a:p>
            <a:endParaRPr lang="en-US"/>
          </a:p>
        </p:txBody>
      </p:sp>
      <p:sp>
        <p:nvSpPr>
          <p:cNvPr id="13" name="Text 11"/>
          <p:cNvSpPr/>
          <p:nvPr/>
        </p:nvSpPr>
        <p:spPr>
          <a:xfrm>
            <a:off x="6355080" y="1508760"/>
            <a:ext cx="2377440" cy="384048"/>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SentinelGuard</a:t>
            </a:r>
            <a:endParaRPr lang="en-US" sz="1400" dirty="0"/>
          </a:p>
        </p:txBody>
      </p:sp>
      <p:sp>
        <p:nvSpPr>
          <p:cNvPr id="14" name="Text 12"/>
          <p:cNvSpPr/>
          <p:nvPr/>
        </p:nvSpPr>
        <p:spPr>
          <a:xfrm>
            <a:off x="6355080" y="1965960"/>
            <a:ext cx="2377440" cy="1645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Uses machine learning to look at transaction patterns in real time and decide if the customer is being scammed.</a:t>
            </a:r>
            <a:endParaRPr lang="en-US" sz="1200" dirty="0"/>
          </a:p>
        </p:txBody>
      </p:sp>
      <p:sp>
        <p:nvSpPr>
          <p:cNvPr id="15" name="Text 13"/>
          <p:cNvSpPr/>
          <p:nvPr/>
        </p:nvSpPr>
        <p:spPr>
          <a:xfrm>
            <a:off x="548640" y="4160520"/>
            <a:ext cx="8046720" cy="621792"/>
          </a:xfrm>
          <a:prstGeom prst="rect">
            <a:avLst/>
          </a:prstGeom>
          <a:noFill/>
          <a:ln/>
        </p:spPr>
        <p:txBody>
          <a:bodyPr wrap="square" rtlCol="0" anchor="ctr"/>
          <a:lstStyle/>
          <a:p>
            <a:pPr marL="0" indent="0" algn="ctr">
              <a:buNone/>
            </a:pPr>
            <a:r>
              <a:rPr lang="en-US" sz="1300" i="1" dirty="0">
                <a:solidFill>
                  <a:srgbClr val="444444"/>
                </a:solidFill>
                <a:latin typeface="Calibri" pitchFamily="34" charset="0"/>
                <a:ea typeface="Calibri" pitchFamily="34" charset="-122"/>
                <a:cs typeface="Calibri" pitchFamily="34" charset="-120"/>
              </a:rPr>
              <a:t>The challenge: 0.13% of all transactions are fraud. The model cannot just say not fraud every time.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The Research Gap</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From the literature review of 10 peer reviewed papers</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Text 4"/>
          <p:cNvSpPr/>
          <p:nvPr/>
        </p:nvSpPr>
        <p:spPr>
          <a:xfrm>
            <a:off x="548640" y="1325880"/>
            <a:ext cx="8046720" cy="32004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What existing papers do:</a:t>
            </a:r>
            <a:endParaRPr lang="en-US" sz="1400" dirty="0"/>
          </a:p>
        </p:txBody>
      </p:sp>
      <p:sp>
        <p:nvSpPr>
          <p:cNvPr id="7" name="Shape 5"/>
          <p:cNvSpPr/>
          <p:nvPr/>
        </p:nvSpPr>
        <p:spPr>
          <a:xfrm>
            <a:off x="548640" y="1719072"/>
            <a:ext cx="8046720" cy="685800"/>
          </a:xfrm>
          <a:prstGeom prst="rect">
            <a:avLst/>
          </a:prstGeom>
          <a:solidFill>
            <a:srgbClr val="EEF2F7"/>
          </a:solidFill>
          <a:ln w="12700">
            <a:solidFill>
              <a:srgbClr val="DDDDDD"/>
            </a:solidFill>
            <a:prstDash val="solid"/>
          </a:ln>
        </p:spPr>
        <p:txBody>
          <a:bodyPr/>
          <a:lstStyle/>
          <a:p>
            <a:endParaRPr lang="en-US"/>
          </a:p>
        </p:txBody>
      </p:sp>
      <p:sp>
        <p:nvSpPr>
          <p:cNvPr id="8" name="Text 6"/>
          <p:cNvSpPr/>
          <p:nvPr/>
        </p:nvSpPr>
        <p:spPr>
          <a:xfrm>
            <a:off x="685800" y="1764792"/>
            <a:ext cx="2011680" cy="292608"/>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Hajek et al. 2023</a:t>
            </a:r>
            <a:endParaRPr lang="en-US" sz="1200" dirty="0"/>
          </a:p>
        </p:txBody>
      </p:sp>
      <p:sp>
        <p:nvSpPr>
          <p:cNvPr id="9" name="Text 7"/>
          <p:cNvSpPr/>
          <p:nvPr/>
        </p:nvSpPr>
        <p:spPr>
          <a:xfrm>
            <a:off x="2788920" y="1764792"/>
            <a:ext cx="5669280" cy="502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XGBoost on mobile payments. Best existing paper but no Irish features, no SHAP, no drift detection.</a:t>
            </a:r>
            <a:endParaRPr lang="en-US" sz="1200" dirty="0"/>
          </a:p>
        </p:txBody>
      </p:sp>
      <p:sp>
        <p:nvSpPr>
          <p:cNvPr id="10" name="Shape 8"/>
          <p:cNvSpPr/>
          <p:nvPr/>
        </p:nvSpPr>
        <p:spPr>
          <a:xfrm>
            <a:off x="548640" y="2523744"/>
            <a:ext cx="8046720" cy="685800"/>
          </a:xfrm>
          <a:prstGeom prst="rect">
            <a:avLst/>
          </a:prstGeom>
          <a:solidFill>
            <a:srgbClr val="F7F7F7"/>
          </a:solidFill>
          <a:ln w="12700">
            <a:solidFill>
              <a:srgbClr val="DDDDDD"/>
            </a:solidFill>
            <a:prstDash val="solid"/>
          </a:ln>
        </p:spPr>
        <p:txBody>
          <a:bodyPr/>
          <a:lstStyle/>
          <a:p>
            <a:endParaRPr lang="en-US"/>
          </a:p>
        </p:txBody>
      </p:sp>
      <p:sp>
        <p:nvSpPr>
          <p:cNvPr id="11" name="Text 9"/>
          <p:cNvSpPr/>
          <p:nvPr/>
        </p:nvSpPr>
        <p:spPr>
          <a:xfrm>
            <a:off x="685800" y="2569464"/>
            <a:ext cx="2011680" cy="292608"/>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Nobel et al. 2024</a:t>
            </a:r>
            <a:endParaRPr lang="en-US" sz="1200" dirty="0"/>
          </a:p>
        </p:txBody>
      </p:sp>
      <p:sp>
        <p:nvSpPr>
          <p:cNvPr id="12" name="Text 10"/>
          <p:cNvSpPr/>
          <p:nvPr/>
        </p:nvSpPr>
        <p:spPr>
          <a:xfrm>
            <a:off x="2788920" y="2569464"/>
            <a:ext cx="5669280" cy="502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XGBoost with SMOTE and SHAP on PaySim. Validates my pipeline but no Irish context.</a:t>
            </a:r>
            <a:endParaRPr lang="en-US" sz="1200" dirty="0"/>
          </a:p>
        </p:txBody>
      </p:sp>
      <p:sp>
        <p:nvSpPr>
          <p:cNvPr id="13" name="Shape 11"/>
          <p:cNvSpPr/>
          <p:nvPr/>
        </p:nvSpPr>
        <p:spPr>
          <a:xfrm>
            <a:off x="548640" y="3328416"/>
            <a:ext cx="8046720" cy="685800"/>
          </a:xfrm>
          <a:prstGeom prst="rect">
            <a:avLst/>
          </a:prstGeom>
          <a:solidFill>
            <a:srgbClr val="EEF2F7"/>
          </a:solidFill>
          <a:ln w="12700">
            <a:solidFill>
              <a:srgbClr val="DDDDDD"/>
            </a:solidFill>
            <a:prstDash val="solid"/>
          </a:ln>
        </p:spPr>
        <p:txBody>
          <a:bodyPr/>
          <a:lstStyle/>
          <a:p>
            <a:endParaRPr lang="en-US"/>
          </a:p>
        </p:txBody>
      </p:sp>
      <p:sp>
        <p:nvSpPr>
          <p:cNvPr id="14" name="Text 12"/>
          <p:cNvSpPr/>
          <p:nvPr/>
        </p:nvSpPr>
        <p:spPr>
          <a:xfrm>
            <a:off x="685800" y="3374136"/>
            <a:ext cx="2011680" cy="292608"/>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Ali et al. 2022</a:t>
            </a:r>
            <a:endParaRPr lang="en-US" sz="1200" dirty="0"/>
          </a:p>
        </p:txBody>
      </p:sp>
      <p:sp>
        <p:nvSpPr>
          <p:cNvPr id="15" name="Text 13"/>
          <p:cNvSpPr/>
          <p:nvPr/>
        </p:nvSpPr>
        <p:spPr>
          <a:xfrm>
            <a:off x="2788920" y="3374136"/>
            <a:ext cx="5669280" cy="502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Reviewed 63 papers. Confirmed no Irish APP fraud model exists anywhere in the literature.</a:t>
            </a:r>
            <a:endParaRPr lang="en-US" sz="1200" dirty="0"/>
          </a:p>
        </p:txBody>
      </p:sp>
      <p:sp>
        <p:nvSpPr>
          <p:cNvPr id="16" name="Shape 14"/>
          <p:cNvSpPr/>
          <p:nvPr/>
        </p:nvSpPr>
        <p:spPr>
          <a:xfrm>
            <a:off x="548640" y="4160520"/>
            <a:ext cx="8046720" cy="658368"/>
          </a:xfrm>
          <a:prstGeom prst="rect">
            <a:avLst/>
          </a:prstGeom>
          <a:solidFill>
            <a:srgbClr val="E8F0F8"/>
          </a:solidFill>
          <a:ln w="12700">
            <a:solidFill>
              <a:srgbClr val="DDDDDD"/>
            </a:solidFill>
            <a:prstDash val="solid"/>
          </a:ln>
        </p:spPr>
        <p:txBody>
          <a:bodyPr/>
          <a:lstStyle/>
          <a:p>
            <a:endParaRPr lang="en-US"/>
          </a:p>
        </p:txBody>
      </p:sp>
      <p:sp>
        <p:nvSpPr>
          <p:cNvPr id="17" name="Text 15"/>
          <p:cNvSpPr/>
          <p:nvPr/>
        </p:nvSpPr>
        <p:spPr>
          <a:xfrm>
            <a:off x="731520" y="4233672"/>
            <a:ext cx="64008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Gap:</a:t>
            </a:r>
            <a:endParaRPr lang="en-US" sz="1300" dirty="0"/>
          </a:p>
        </p:txBody>
      </p:sp>
      <p:sp>
        <p:nvSpPr>
          <p:cNvPr id="18" name="Text 16"/>
          <p:cNvSpPr/>
          <p:nvPr/>
        </p:nvSpPr>
        <p:spPr>
          <a:xfrm>
            <a:off x="1371600" y="4224528"/>
            <a:ext cx="7040880" cy="512064"/>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No published model combines Irish CBI features with XGBoost, SMOTE, Isolation Forest, SHAP, and concept drift detection for Irish APP fraud.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Implementation Overview</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4 Colab notebooks, all committed to GitHub with dated history</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353312"/>
            <a:ext cx="8046720" cy="749808"/>
          </a:xfrm>
          <a:prstGeom prst="rect">
            <a:avLst/>
          </a:prstGeom>
          <a:solidFill>
            <a:srgbClr val="EEF2F7"/>
          </a:solidFill>
          <a:ln w="12700">
            <a:solidFill>
              <a:srgbClr val="DDDDDD"/>
            </a:solidFill>
            <a:prstDash val="solid"/>
          </a:ln>
        </p:spPr>
        <p:txBody>
          <a:bodyPr/>
          <a:lstStyle/>
          <a:p>
            <a:endParaRPr lang="en-US"/>
          </a:p>
        </p:txBody>
      </p:sp>
      <p:sp>
        <p:nvSpPr>
          <p:cNvPr id="7" name="Shape 5"/>
          <p:cNvSpPr/>
          <p:nvPr/>
        </p:nvSpPr>
        <p:spPr>
          <a:xfrm>
            <a:off x="548640" y="1353312"/>
            <a:ext cx="1005840" cy="749808"/>
          </a:xfrm>
          <a:prstGeom prst="rect">
            <a:avLst/>
          </a:prstGeom>
          <a:solidFill>
            <a:srgbClr val="0D1B2A"/>
          </a:solidFill>
          <a:ln w="12700">
            <a:solidFill>
              <a:srgbClr val="0D1B2A"/>
            </a:solidFill>
            <a:prstDash val="solid"/>
          </a:ln>
        </p:spPr>
        <p:txBody>
          <a:bodyPr/>
          <a:lstStyle/>
          <a:p>
            <a:endParaRPr lang="en-US"/>
          </a:p>
        </p:txBody>
      </p:sp>
      <p:sp>
        <p:nvSpPr>
          <p:cNvPr id="8" name="Text 6"/>
          <p:cNvSpPr/>
          <p:nvPr/>
        </p:nvSpPr>
        <p:spPr>
          <a:xfrm>
            <a:off x="548640" y="1353312"/>
            <a:ext cx="1005840" cy="7498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9" name="Text 7"/>
          <p:cNvSpPr/>
          <p:nvPr/>
        </p:nvSpPr>
        <p:spPr>
          <a:xfrm>
            <a:off x="1691640" y="1444752"/>
            <a:ext cx="5029200" cy="29260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EDA and Feature Engineering</a:t>
            </a:r>
            <a:endParaRPr lang="en-US" sz="1300" dirty="0"/>
          </a:p>
        </p:txBody>
      </p:sp>
      <p:sp>
        <p:nvSpPr>
          <p:cNvPr id="10" name="Text 8"/>
          <p:cNvSpPr/>
          <p:nvPr/>
        </p:nvSpPr>
        <p:spPr>
          <a:xfrm>
            <a:off x="1691640" y="1755648"/>
            <a:ext cx="5029200" cy="256032"/>
          </a:xfrm>
          <a:prstGeom prst="rect">
            <a:avLst/>
          </a:prstGeom>
          <a:noFill/>
          <a:ln/>
        </p:spPr>
        <p:txBody>
          <a:bodyPr wrap="square" rtlCol="0" anchor="ctr"/>
          <a:lstStyle/>
          <a:p>
            <a:pPr marL="0" indent="0">
              <a:buNone/>
            </a:pPr>
            <a:r>
              <a:rPr lang="en-US" sz="1150" dirty="0">
                <a:solidFill>
                  <a:srgbClr val="888888"/>
                </a:solidFill>
                <a:latin typeface="Calibri" pitchFamily="34" charset="0"/>
                <a:ea typeface="Calibri" pitchFamily="34" charset="-122"/>
                <a:cs typeface="Calibri" pitchFamily="34" charset="-120"/>
              </a:rPr>
              <a:t>PaySim loaded, 4 Irish CBI features added</a:t>
            </a:r>
            <a:endParaRPr lang="en-US" sz="1150" dirty="0"/>
          </a:p>
        </p:txBody>
      </p:sp>
      <p:sp>
        <p:nvSpPr>
          <p:cNvPr id="11" name="Text 9"/>
          <p:cNvSpPr/>
          <p:nvPr/>
        </p:nvSpPr>
        <p:spPr>
          <a:xfrm>
            <a:off x="6949440" y="1581912"/>
            <a:ext cx="1554480" cy="256032"/>
          </a:xfrm>
          <a:prstGeom prst="rect">
            <a:avLst/>
          </a:prstGeom>
          <a:noFill/>
          <a:ln/>
        </p:spPr>
        <p:txBody>
          <a:bodyPr wrap="square" rtlCol="0" anchor="ctr"/>
          <a:lstStyle/>
          <a:p>
            <a:pPr marL="0" indent="0" algn="r">
              <a:buNone/>
            </a:pPr>
            <a:r>
              <a:rPr lang="en-US" sz="1100" dirty="0">
                <a:solidFill>
                  <a:srgbClr val="888888"/>
                </a:solidFill>
                <a:latin typeface="Calibri" pitchFamily="34" charset="0"/>
                <a:ea typeface="Calibri" pitchFamily="34" charset="-122"/>
                <a:cs typeface="Calibri" pitchFamily="34" charset="-120"/>
              </a:rPr>
              <a:t>30 Jun 2026</a:t>
            </a:r>
            <a:endParaRPr lang="en-US" sz="1100" dirty="0"/>
          </a:p>
        </p:txBody>
      </p:sp>
      <p:sp>
        <p:nvSpPr>
          <p:cNvPr id="12" name="Shape 10"/>
          <p:cNvSpPr/>
          <p:nvPr/>
        </p:nvSpPr>
        <p:spPr>
          <a:xfrm>
            <a:off x="548640" y="2240280"/>
            <a:ext cx="8046720" cy="749808"/>
          </a:xfrm>
          <a:prstGeom prst="rect">
            <a:avLst/>
          </a:prstGeom>
          <a:solidFill>
            <a:srgbClr val="F7F7F7"/>
          </a:solidFill>
          <a:ln w="12700">
            <a:solidFill>
              <a:srgbClr val="DDDDDD"/>
            </a:solidFill>
            <a:prstDash val="solid"/>
          </a:ln>
        </p:spPr>
        <p:txBody>
          <a:bodyPr/>
          <a:lstStyle/>
          <a:p>
            <a:endParaRPr lang="en-US"/>
          </a:p>
        </p:txBody>
      </p:sp>
      <p:sp>
        <p:nvSpPr>
          <p:cNvPr id="13" name="Shape 11"/>
          <p:cNvSpPr/>
          <p:nvPr/>
        </p:nvSpPr>
        <p:spPr>
          <a:xfrm>
            <a:off x="548640" y="2240280"/>
            <a:ext cx="1005840" cy="749808"/>
          </a:xfrm>
          <a:prstGeom prst="rect">
            <a:avLst/>
          </a:prstGeom>
          <a:solidFill>
            <a:srgbClr val="0D1B2A"/>
          </a:solidFill>
          <a:ln w="12700">
            <a:solidFill>
              <a:srgbClr val="0D1B2A"/>
            </a:solidFill>
            <a:prstDash val="solid"/>
          </a:ln>
        </p:spPr>
        <p:txBody>
          <a:bodyPr/>
          <a:lstStyle/>
          <a:p>
            <a:endParaRPr lang="en-US"/>
          </a:p>
        </p:txBody>
      </p:sp>
      <p:sp>
        <p:nvSpPr>
          <p:cNvPr id="14" name="Text 12"/>
          <p:cNvSpPr/>
          <p:nvPr/>
        </p:nvSpPr>
        <p:spPr>
          <a:xfrm>
            <a:off x="548640" y="2240280"/>
            <a:ext cx="1005840" cy="7498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1691640" y="2331720"/>
            <a:ext cx="5029200" cy="29260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SMOTE and XGBoost Baseline</a:t>
            </a:r>
            <a:endParaRPr lang="en-US" sz="1300" dirty="0"/>
          </a:p>
        </p:txBody>
      </p:sp>
      <p:sp>
        <p:nvSpPr>
          <p:cNvPr id="16" name="Text 14"/>
          <p:cNvSpPr/>
          <p:nvPr/>
        </p:nvSpPr>
        <p:spPr>
          <a:xfrm>
            <a:off x="1691640" y="2642616"/>
            <a:ext cx="5029200" cy="256032"/>
          </a:xfrm>
          <a:prstGeom prst="rect">
            <a:avLst/>
          </a:prstGeom>
          <a:noFill/>
          <a:ln/>
        </p:spPr>
        <p:txBody>
          <a:bodyPr wrap="square" rtlCol="0" anchor="ctr"/>
          <a:lstStyle/>
          <a:p>
            <a:pPr marL="0" indent="0">
              <a:buNone/>
            </a:pPr>
            <a:r>
              <a:rPr lang="en-US" sz="1150" dirty="0">
                <a:solidFill>
                  <a:srgbClr val="888888"/>
                </a:solidFill>
                <a:latin typeface="Calibri" pitchFamily="34" charset="0"/>
                <a:ea typeface="Calibri" pitchFamily="34" charset="-122"/>
                <a:cs typeface="Calibri" pitchFamily="34" charset="-120"/>
              </a:rPr>
              <a:t>First model trained, baseline metrics recorded</a:t>
            </a:r>
            <a:endParaRPr lang="en-US" sz="1150" dirty="0"/>
          </a:p>
        </p:txBody>
      </p:sp>
      <p:sp>
        <p:nvSpPr>
          <p:cNvPr id="17" name="Text 15"/>
          <p:cNvSpPr/>
          <p:nvPr/>
        </p:nvSpPr>
        <p:spPr>
          <a:xfrm>
            <a:off x="6949440" y="2468880"/>
            <a:ext cx="1554480" cy="256032"/>
          </a:xfrm>
          <a:prstGeom prst="rect">
            <a:avLst/>
          </a:prstGeom>
          <a:noFill/>
          <a:ln/>
        </p:spPr>
        <p:txBody>
          <a:bodyPr wrap="square" rtlCol="0" anchor="ctr"/>
          <a:lstStyle/>
          <a:p>
            <a:pPr marL="0" indent="0" algn="r">
              <a:buNone/>
            </a:pPr>
            <a:r>
              <a:rPr lang="en-US" sz="1100" dirty="0">
                <a:solidFill>
                  <a:srgbClr val="888888"/>
                </a:solidFill>
                <a:latin typeface="Calibri" pitchFamily="34" charset="0"/>
                <a:ea typeface="Calibri" pitchFamily="34" charset="-122"/>
                <a:cs typeface="Calibri" pitchFamily="34" charset="-120"/>
              </a:rPr>
              <a:t>6 Jul 2026</a:t>
            </a:r>
            <a:endParaRPr lang="en-US" sz="1100" dirty="0"/>
          </a:p>
        </p:txBody>
      </p:sp>
      <p:sp>
        <p:nvSpPr>
          <p:cNvPr id="18" name="Shape 16"/>
          <p:cNvSpPr/>
          <p:nvPr/>
        </p:nvSpPr>
        <p:spPr>
          <a:xfrm>
            <a:off x="548640" y="3127248"/>
            <a:ext cx="8046720" cy="749808"/>
          </a:xfrm>
          <a:prstGeom prst="rect">
            <a:avLst/>
          </a:prstGeom>
          <a:solidFill>
            <a:srgbClr val="EEF2F7"/>
          </a:solidFill>
          <a:ln w="12700">
            <a:solidFill>
              <a:srgbClr val="DDDDDD"/>
            </a:solidFill>
            <a:prstDash val="solid"/>
          </a:ln>
        </p:spPr>
        <p:txBody>
          <a:bodyPr/>
          <a:lstStyle/>
          <a:p>
            <a:endParaRPr lang="en-US"/>
          </a:p>
        </p:txBody>
      </p:sp>
      <p:sp>
        <p:nvSpPr>
          <p:cNvPr id="19" name="Shape 17"/>
          <p:cNvSpPr/>
          <p:nvPr/>
        </p:nvSpPr>
        <p:spPr>
          <a:xfrm>
            <a:off x="548640" y="3127248"/>
            <a:ext cx="1005840" cy="749808"/>
          </a:xfrm>
          <a:prstGeom prst="rect">
            <a:avLst/>
          </a:prstGeom>
          <a:solidFill>
            <a:srgbClr val="0D1B2A"/>
          </a:solidFill>
          <a:ln w="12700">
            <a:solidFill>
              <a:srgbClr val="0D1B2A"/>
            </a:solidFill>
            <a:prstDash val="solid"/>
          </a:ln>
        </p:spPr>
        <p:txBody>
          <a:bodyPr/>
          <a:lstStyle/>
          <a:p>
            <a:endParaRPr lang="en-US"/>
          </a:p>
        </p:txBody>
      </p:sp>
      <p:sp>
        <p:nvSpPr>
          <p:cNvPr id="20" name="Text 18"/>
          <p:cNvSpPr/>
          <p:nvPr/>
        </p:nvSpPr>
        <p:spPr>
          <a:xfrm>
            <a:off x="548640" y="3127248"/>
            <a:ext cx="1005840" cy="7498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1691640" y="3218688"/>
            <a:ext cx="5029200" cy="29260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Optuna Tuning and Isolation Forest</a:t>
            </a:r>
            <a:endParaRPr lang="en-US" sz="1300" dirty="0"/>
          </a:p>
        </p:txBody>
      </p:sp>
      <p:sp>
        <p:nvSpPr>
          <p:cNvPr id="22" name="Text 20"/>
          <p:cNvSpPr/>
          <p:nvPr/>
        </p:nvSpPr>
        <p:spPr>
          <a:xfrm>
            <a:off x="1691640" y="3529584"/>
            <a:ext cx="5029200" cy="256032"/>
          </a:xfrm>
          <a:prstGeom prst="rect">
            <a:avLst/>
          </a:prstGeom>
          <a:noFill/>
          <a:ln/>
        </p:spPr>
        <p:txBody>
          <a:bodyPr wrap="square" rtlCol="0" anchor="ctr"/>
          <a:lstStyle/>
          <a:p>
            <a:pPr marL="0" indent="0">
              <a:buNone/>
            </a:pPr>
            <a:r>
              <a:rPr lang="en-US" sz="1150" dirty="0">
                <a:solidFill>
                  <a:srgbClr val="888888"/>
                </a:solidFill>
                <a:latin typeface="Calibri" pitchFamily="34" charset="0"/>
                <a:ea typeface="Calibri" pitchFamily="34" charset="-122"/>
                <a:cs typeface="Calibri" pitchFamily="34" charset="-120"/>
              </a:rPr>
              <a:t>Model improved, anomaly detection added</a:t>
            </a:r>
            <a:endParaRPr lang="en-US" sz="1150" dirty="0"/>
          </a:p>
        </p:txBody>
      </p:sp>
      <p:sp>
        <p:nvSpPr>
          <p:cNvPr id="23" name="Text 21"/>
          <p:cNvSpPr/>
          <p:nvPr/>
        </p:nvSpPr>
        <p:spPr>
          <a:xfrm>
            <a:off x="6949440" y="3355848"/>
            <a:ext cx="1554480" cy="256032"/>
          </a:xfrm>
          <a:prstGeom prst="rect">
            <a:avLst/>
          </a:prstGeom>
          <a:noFill/>
          <a:ln/>
        </p:spPr>
        <p:txBody>
          <a:bodyPr wrap="square" rtlCol="0" anchor="ctr"/>
          <a:lstStyle/>
          <a:p>
            <a:pPr marL="0" indent="0" algn="r">
              <a:buNone/>
            </a:pPr>
            <a:r>
              <a:rPr lang="en-US" sz="1100" dirty="0">
                <a:solidFill>
                  <a:srgbClr val="888888"/>
                </a:solidFill>
                <a:latin typeface="Calibri" pitchFamily="34" charset="0"/>
                <a:ea typeface="Calibri" pitchFamily="34" charset="-122"/>
                <a:cs typeface="Calibri" pitchFamily="34" charset="-120"/>
              </a:rPr>
              <a:t>10 Jul 2026</a:t>
            </a:r>
            <a:endParaRPr lang="en-US" sz="1100" dirty="0"/>
          </a:p>
        </p:txBody>
      </p:sp>
      <p:sp>
        <p:nvSpPr>
          <p:cNvPr id="24" name="Shape 22"/>
          <p:cNvSpPr/>
          <p:nvPr/>
        </p:nvSpPr>
        <p:spPr>
          <a:xfrm>
            <a:off x="548640" y="4014216"/>
            <a:ext cx="8046720" cy="749808"/>
          </a:xfrm>
          <a:prstGeom prst="rect">
            <a:avLst/>
          </a:prstGeom>
          <a:solidFill>
            <a:srgbClr val="F7F7F7"/>
          </a:solidFill>
          <a:ln w="12700">
            <a:solidFill>
              <a:srgbClr val="DDDDDD"/>
            </a:solidFill>
            <a:prstDash val="solid"/>
          </a:ln>
        </p:spPr>
        <p:txBody>
          <a:bodyPr/>
          <a:lstStyle/>
          <a:p>
            <a:endParaRPr lang="en-US"/>
          </a:p>
        </p:txBody>
      </p:sp>
      <p:sp>
        <p:nvSpPr>
          <p:cNvPr id="25" name="Shape 23"/>
          <p:cNvSpPr/>
          <p:nvPr/>
        </p:nvSpPr>
        <p:spPr>
          <a:xfrm>
            <a:off x="548640" y="4014216"/>
            <a:ext cx="1005840" cy="749808"/>
          </a:xfrm>
          <a:prstGeom prst="rect">
            <a:avLst/>
          </a:prstGeom>
          <a:solidFill>
            <a:srgbClr val="0D1B2A"/>
          </a:solidFill>
          <a:ln w="12700">
            <a:solidFill>
              <a:srgbClr val="0D1B2A"/>
            </a:solidFill>
            <a:prstDash val="solid"/>
          </a:ln>
        </p:spPr>
        <p:txBody>
          <a:bodyPr/>
          <a:lstStyle/>
          <a:p>
            <a:endParaRPr lang="en-US"/>
          </a:p>
        </p:txBody>
      </p:sp>
      <p:sp>
        <p:nvSpPr>
          <p:cNvPr id="26" name="Text 24"/>
          <p:cNvSpPr/>
          <p:nvPr/>
        </p:nvSpPr>
        <p:spPr>
          <a:xfrm>
            <a:off x="548640" y="4014216"/>
            <a:ext cx="1005840" cy="7498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27" name="Text 25"/>
          <p:cNvSpPr/>
          <p:nvPr/>
        </p:nvSpPr>
        <p:spPr>
          <a:xfrm>
            <a:off x="1691640" y="4105656"/>
            <a:ext cx="5029200" cy="292608"/>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SHAP Explainability</a:t>
            </a:r>
            <a:endParaRPr lang="en-US" sz="1300" dirty="0"/>
          </a:p>
        </p:txBody>
      </p:sp>
      <p:sp>
        <p:nvSpPr>
          <p:cNvPr id="28" name="Text 26"/>
          <p:cNvSpPr/>
          <p:nvPr/>
        </p:nvSpPr>
        <p:spPr>
          <a:xfrm>
            <a:off x="1691640" y="4416552"/>
            <a:ext cx="5029200" cy="256032"/>
          </a:xfrm>
          <a:prstGeom prst="rect">
            <a:avLst/>
          </a:prstGeom>
          <a:noFill/>
          <a:ln/>
        </p:spPr>
        <p:txBody>
          <a:bodyPr wrap="square" rtlCol="0" anchor="ctr"/>
          <a:lstStyle/>
          <a:p>
            <a:pPr marL="0" indent="0">
              <a:buNone/>
            </a:pPr>
            <a:r>
              <a:rPr lang="en-US" sz="1150" dirty="0">
                <a:solidFill>
                  <a:srgbClr val="888888"/>
                </a:solidFill>
                <a:latin typeface="Calibri" pitchFamily="34" charset="0"/>
                <a:ea typeface="Calibri" pitchFamily="34" charset="-122"/>
                <a:cs typeface="Calibri" pitchFamily="34" charset="-120"/>
              </a:rPr>
              <a:t>Global and local explanations generated</a:t>
            </a:r>
            <a:endParaRPr lang="en-US" sz="1150" dirty="0"/>
          </a:p>
        </p:txBody>
      </p:sp>
      <p:sp>
        <p:nvSpPr>
          <p:cNvPr id="29" name="Text 27"/>
          <p:cNvSpPr/>
          <p:nvPr/>
        </p:nvSpPr>
        <p:spPr>
          <a:xfrm>
            <a:off x="6949440" y="4242816"/>
            <a:ext cx="1554480" cy="256032"/>
          </a:xfrm>
          <a:prstGeom prst="rect">
            <a:avLst/>
          </a:prstGeom>
          <a:noFill/>
          <a:ln/>
        </p:spPr>
        <p:txBody>
          <a:bodyPr wrap="square" rtlCol="0" anchor="ctr"/>
          <a:lstStyle/>
          <a:p>
            <a:pPr marL="0" indent="0" algn="r">
              <a:buNone/>
            </a:pPr>
            <a:r>
              <a:rPr lang="en-US" sz="1100" dirty="0">
                <a:solidFill>
                  <a:srgbClr val="888888"/>
                </a:solidFill>
                <a:latin typeface="Calibri" pitchFamily="34" charset="0"/>
                <a:ea typeface="Calibri" pitchFamily="34" charset="-122"/>
                <a:cs typeface="Calibri" pitchFamily="34" charset="-120"/>
              </a:rPr>
              <a:t>14 Jul 2026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Notebook 1: EDA and Feature Engineering</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Understanding the data and adding Irish context</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298448"/>
            <a:ext cx="3749040" cy="2971800"/>
          </a:xfrm>
          <a:prstGeom prst="rect">
            <a:avLst/>
          </a:prstGeom>
          <a:solidFill>
            <a:srgbClr val="EEF2F7"/>
          </a:solidFill>
          <a:ln w="12700">
            <a:solidFill>
              <a:srgbClr val="DDDDDD"/>
            </a:solidFill>
            <a:prstDash val="solid"/>
          </a:ln>
        </p:spPr>
        <p:txBody>
          <a:bodyPr/>
          <a:lstStyle/>
          <a:p>
            <a:endParaRPr lang="en-US"/>
          </a:p>
        </p:txBody>
      </p:sp>
      <p:sp>
        <p:nvSpPr>
          <p:cNvPr id="7" name="Text 5"/>
          <p:cNvSpPr/>
          <p:nvPr/>
        </p:nvSpPr>
        <p:spPr>
          <a:xfrm>
            <a:off x="685800" y="1389888"/>
            <a:ext cx="347472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What I found in the data</a:t>
            </a:r>
            <a:endParaRPr lang="en-US" sz="1300" dirty="0"/>
          </a:p>
        </p:txBody>
      </p:sp>
      <p:sp>
        <p:nvSpPr>
          <p:cNvPr id="8" name="Shape 6"/>
          <p:cNvSpPr/>
          <p:nvPr/>
        </p:nvSpPr>
        <p:spPr>
          <a:xfrm>
            <a:off x="713232" y="1801368"/>
            <a:ext cx="128016" cy="128016"/>
          </a:xfrm>
          <a:prstGeom prst="rect">
            <a:avLst/>
          </a:prstGeom>
          <a:solidFill>
            <a:srgbClr val="1B4F72"/>
          </a:solidFill>
          <a:ln/>
        </p:spPr>
        <p:txBody>
          <a:bodyPr/>
          <a:lstStyle/>
          <a:p>
            <a:endParaRPr lang="en-US"/>
          </a:p>
        </p:txBody>
      </p:sp>
      <p:sp>
        <p:nvSpPr>
          <p:cNvPr id="9" name="Text 7"/>
          <p:cNvSpPr/>
          <p:nvPr/>
        </p:nvSpPr>
        <p:spPr>
          <a:xfrm>
            <a:off x="932688" y="1764792"/>
            <a:ext cx="3200400" cy="25603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6.3M transactions loaded from PaySim</a:t>
            </a:r>
            <a:endParaRPr lang="en-US" sz="1100" dirty="0"/>
          </a:p>
        </p:txBody>
      </p:sp>
      <p:sp>
        <p:nvSpPr>
          <p:cNvPr id="10" name="Shape 8"/>
          <p:cNvSpPr/>
          <p:nvPr/>
        </p:nvSpPr>
        <p:spPr>
          <a:xfrm>
            <a:off x="713232" y="2185416"/>
            <a:ext cx="128016" cy="128016"/>
          </a:xfrm>
          <a:prstGeom prst="rect">
            <a:avLst/>
          </a:prstGeom>
          <a:solidFill>
            <a:srgbClr val="1B4F72"/>
          </a:solidFill>
          <a:ln/>
        </p:spPr>
        <p:txBody>
          <a:bodyPr/>
          <a:lstStyle/>
          <a:p>
            <a:endParaRPr lang="en-US"/>
          </a:p>
        </p:txBody>
      </p:sp>
      <p:sp>
        <p:nvSpPr>
          <p:cNvPr id="11" name="Text 9"/>
          <p:cNvSpPr/>
          <p:nvPr/>
        </p:nvSpPr>
        <p:spPr>
          <a:xfrm>
            <a:off x="932688" y="2148840"/>
            <a:ext cx="3200400" cy="25603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Only 0.13% are fraud (8,213 transactions)</a:t>
            </a:r>
            <a:endParaRPr lang="en-US" sz="1100" dirty="0"/>
          </a:p>
        </p:txBody>
      </p:sp>
      <p:sp>
        <p:nvSpPr>
          <p:cNvPr id="12" name="Shape 10"/>
          <p:cNvSpPr/>
          <p:nvPr/>
        </p:nvSpPr>
        <p:spPr>
          <a:xfrm>
            <a:off x="713232" y="2569464"/>
            <a:ext cx="128016" cy="128016"/>
          </a:xfrm>
          <a:prstGeom prst="rect">
            <a:avLst/>
          </a:prstGeom>
          <a:solidFill>
            <a:srgbClr val="1B4F72"/>
          </a:solidFill>
          <a:ln/>
        </p:spPr>
        <p:txBody>
          <a:bodyPr/>
          <a:lstStyle/>
          <a:p>
            <a:endParaRPr lang="en-US"/>
          </a:p>
        </p:txBody>
      </p:sp>
      <p:sp>
        <p:nvSpPr>
          <p:cNvPr id="13" name="Text 11"/>
          <p:cNvSpPr/>
          <p:nvPr/>
        </p:nvSpPr>
        <p:spPr>
          <a:xfrm>
            <a:off x="932688" y="2532888"/>
            <a:ext cx="3200400" cy="25603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Fraud only exists in CASH_OUT and TRANSFER types</a:t>
            </a:r>
            <a:endParaRPr lang="en-US" sz="1100" dirty="0"/>
          </a:p>
        </p:txBody>
      </p:sp>
      <p:sp>
        <p:nvSpPr>
          <p:cNvPr id="14" name="Shape 12"/>
          <p:cNvSpPr/>
          <p:nvPr/>
        </p:nvSpPr>
        <p:spPr>
          <a:xfrm>
            <a:off x="713232" y="2953512"/>
            <a:ext cx="128016" cy="128016"/>
          </a:xfrm>
          <a:prstGeom prst="rect">
            <a:avLst/>
          </a:prstGeom>
          <a:solidFill>
            <a:srgbClr val="1B4F72"/>
          </a:solidFill>
          <a:ln/>
        </p:spPr>
        <p:txBody>
          <a:bodyPr/>
          <a:lstStyle/>
          <a:p>
            <a:endParaRPr lang="en-US"/>
          </a:p>
        </p:txBody>
      </p:sp>
      <p:sp>
        <p:nvSpPr>
          <p:cNvPr id="15" name="Text 13"/>
          <p:cNvSpPr/>
          <p:nvPr/>
        </p:nvSpPr>
        <p:spPr>
          <a:xfrm>
            <a:off x="932688" y="2916936"/>
            <a:ext cx="3200400" cy="25603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Filtered to 2.77M rows after removing other types</a:t>
            </a:r>
            <a:endParaRPr lang="en-US" sz="1100" dirty="0"/>
          </a:p>
        </p:txBody>
      </p:sp>
      <p:sp>
        <p:nvSpPr>
          <p:cNvPr id="16" name="Shape 14"/>
          <p:cNvSpPr/>
          <p:nvPr/>
        </p:nvSpPr>
        <p:spPr>
          <a:xfrm>
            <a:off x="713232" y="3337560"/>
            <a:ext cx="128016" cy="128016"/>
          </a:xfrm>
          <a:prstGeom prst="rect">
            <a:avLst/>
          </a:prstGeom>
          <a:solidFill>
            <a:srgbClr val="1B4F72"/>
          </a:solidFill>
          <a:ln/>
        </p:spPr>
        <p:txBody>
          <a:bodyPr/>
          <a:lstStyle/>
          <a:p>
            <a:endParaRPr lang="en-US"/>
          </a:p>
        </p:txBody>
      </p:sp>
      <p:sp>
        <p:nvSpPr>
          <p:cNvPr id="17" name="Text 15"/>
          <p:cNvSpPr/>
          <p:nvPr/>
        </p:nvSpPr>
        <p:spPr>
          <a:xfrm>
            <a:off x="932688" y="3300984"/>
            <a:ext cx="3200400" cy="25603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Fraud transactions are 4.7x larger on average</a:t>
            </a:r>
            <a:endParaRPr lang="en-US" sz="1100" dirty="0"/>
          </a:p>
        </p:txBody>
      </p:sp>
      <p:sp>
        <p:nvSpPr>
          <p:cNvPr id="18" name="Shape 16"/>
          <p:cNvSpPr/>
          <p:nvPr/>
        </p:nvSpPr>
        <p:spPr>
          <a:xfrm>
            <a:off x="713232" y="3721608"/>
            <a:ext cx="128016" cy="128016"/>
          </a:xfrm>
          <a:prstGeom prst="rect">
            <a:avLst/>
          </a:prstGeom>
          <a:solidFill>
            <a:srgbClr val="1B4F72"/>
          </a:solidFill>
          <a:ln/>
        </p:spPr>
        <p:txBody>
          <a:bodyPr/>
          <a:lstStyle/>
          <a:p>
            <a:endParaRPr lang="en-US"/>
          </a:p>
        </p:txBody>
      </p:sp>
      <p:sp>
        <p:nvSpPr>
          <p:cNvPr id="19" name="Text 17"/>
          <p:cNvSpPr/>
          <p:nvPr/>
        </p:nvSpPr>
        <p:spPr>
          <a:xfrm>
            <a:off x="932688" y="3685032"/>
            <a:ext cx="3200400" cy="25603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Fraud is 3.6x more likely outside banking hours</a:t>
            </a:r>
            <a:endParaRPr lang="en-US" sz="1100" dirty="0"/>
          </a:p>
        </p:txBody>
      </p:sp>
      <p:sp>
        <p:nvSpPr>
          <p:cNvPr id="20" name="Text 18"/>
          <p:cNvSpPr/>
          <p:nvPr/>
        </p:nvSpPr>
        <p:spPr>
          <a:xfrm>
            <a:off x="4617720" y="1298448"/>
            <a:ext cx="397764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4 Irish CBI Features Added</a:t>
            </a:r>
            <a:endParaRPr lang="en-US" sz="1300" dirty="0"/>
          </a:p>
        </p:txBody>
      </p:sp>
      <p:sp>
        <p:nvSpPr>
          <p:cNvPr id="21" name="Shape 19"/>
          <p:cNvSpPr/>
          <p:nvPr/>
        </p:nvSpPr>
        <p:spPr>
          <a:xfrm>
            <a:off x="4617720" y="1719072"/>
            <a:ext cx="3977640" cy="594360"/>
          </a:xfrm>
          <a:prstGeom prst="rect">
            <a:avLst/>
          </a:prstGeom>
          <a:solidFill>
            <a:srgbClr val="EEF2F7"/>
          </a:solidFill>
          <a:ln w="12700">
            <a:solidFill>
              <a:srgbClr val="DDDDDD"/>
            </a:solidFill>
            <a:prstDash val="solid"/>
          </a:ln>
        </p:spPr>
        <p:txBody>
          <a:bodyPr/>
          <a:lstStyle/>
          <a:p>
            <a:endParaRPr lang="en-US"/>
          </a:p>
        </p:txBody>
      </p:sp>
      <p:sp>
        <p:nvSpPr>
          <p:cNvPr id="22" name="Text 20"/>
          <p:cNvSpPr/>
          <p:nvPr/>
        </p:nvSpPr>
        <p:spPr>
          <a:xfrm>
            <a:off x="4736592" y="1764792"/>
            <a:ext cx="3749040" cy="256032"/>
          </a:xfrm>
          <a:prstGeom prst="rect">
            <a:avLst/>
          </a:prstGeom>
          <a:noFill/>
          <a:ln/>
        </p:spPr>
        <p:txBody>
          <a:bodyPr wrap="square" rtlCol="0" anchor="ctr"/>
          <a:lstStyle/>
          <a:p>
            <a:pPr marL="0" indent="0">
              <a:buNone/>
            </a:pPr>
            <a:r>
              <a:rPr lang="en-US" sz="1150" b="1" dirty="0">
                <a:solidFill>
                  <a:srgbClr val="1B4F72"/>
                </a:solidFill>
                <a:latin typeface="Calibri" pitchFamily="34" charset="0"/>
                <a:ea typeface="Calibri" pitchFamily="34" charset="-122"/>
                <a:cs typeface="Calibri" pitchFamily="34" charset="-120"/>
              </a:rPr>
              <a:t>amount_ratio</a:t>
            </a:r>
            <a:endParaRPr lang="en-US" sz="1150" dirty="0"/>
          </a:p>
        </p:txBody>
      </p:sp>
      <p:sp>
        <p:nvSpPr>
          <p:cNvPr id="23" name="Text 21"/>
          <p:cNvSpPr/>
          <p:nvPr/>
        </p:nvSpPr>
        <p:spPr>
          <a:xfrm>
            <a:off x="4736592" y="2029968"/>
            <a:ext cx="3749040" cy="237744"/>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Amount divided by CBI average of 65 euros. Fraud averaged 22,584 times the Irish norm.</a:t>
            </a:r>
            <a:endParaRPr lang="en-US" sz="1050" dirty="0"/>
          </a:p>
        </p:txBody>
      </p:sp>
      <p:sp>
        <p:nvSpPr>
          <p:cNvPr id="24" name="Shape 22"/>
          <p:cNvSpPr/>
          <p:nvPr/>
        </p:nvSpPr>
        <p:spPr>
          <a:xfrm>
            <a:off x="4617720" y="2414016"/>
            <a:ext cx="3977640" cy="594360"/>
          </a:xfrm>
          <a:prstGeom prst="rect">
            <a:avLst/>
          </a:prstGeom>
          <a:solidFill>
            <a:srgbClr val="F7F7F7"/>
          </a:solidFill>
          <a:ln w="12700">
            <a:solidFill>
              <a:srgbClr val="DDDDDD"/>
            </a:solidFill>
            <a:prstDash val="solid"/>
          </a:ln>
        </p:spPr>
        <p:txBody>
          <a:bodyPr/>
          <a:lstStyle/>
          <a:p>
            <a:endParaRPr lang="en-US"/>
          </a:p>
        </p:txBody>
      </p:sp>
      <p:sp>
        <p:nvSpPr>
          <p:cNvPr id="25" name="Text 23"/>
          <p:cNvSpPr/>
          <p:nvPr/>
        </p:nvSpPr>
        <p:spPr>
          <a:xfrm>
            <a:off x="4736592" y="2459736"/>
            <a:ext cx="3749040" cy="256032"/>
          </a:xfrm>
          <a:prstGeom prst="rect">
            <a:avLst/>
          </a:prstGeom>
          <a:noFill/>
          <a:ln/>
        </p:spPr>
        <p:txBody>
          <a:bodyPr wrap="square" rtlCol="0" anchor="ctr"/>
          <a:lstStyle/>
          <a:p>
            <a:pPr marL="0" indent="0">
              <a:buNone/>
            </a:pPr>
            <a:r>
              <a:rPr lang="en-US" sz="1150" b="1" dirty="0">
                <a:solidFill>
                  <a:srgbClr val="1B4F72"/>
                </a:solidFill>
                <a:latin typeface="Calibri" pitchFamily="34" charset="0"/>
                <a:ea typeface="Calibri" pitchFamily="34" charset="-122"/>
                <a:cs typeface="Calibri" pitchFamily="34" charset="-120"/>
              </a:rPr>
              <a:t>outside_hours</a:t>
            </a:r>
            <a:endParaRPr lang="en-US" sz="1150" dirty="0"/>
          </a:p>
        </p:txBody>
      </p:sp>
      <p:sp>
        <p:nvSpPr>
          <p:cNvPr id="26" name="Text 24"/>
          <p:cNvSpPr/>
          <p:nvPr/>
        </p:nvSpPr>
        <p:spPr>
          <a:xfrm>
            <a:off x="4736592" y="2724912"/>
            <a:ext cx="3749040" cy="237744"/>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1 if sent before 9am or after 6pm. Based on CBI seasonal data.</a:t>
            </a:r>
            <a:endParaRPr lang="en-US" sz="1050" dirty="0"/>
          </a:p>
        </p:txBody>
      </p:sp>
      <p:sp>
        <p:nvSpPr>
          <p:cNvPr id="27" name="Shape 25"/>
          <p:cNvSpPr/>
          <p:nvPr/>
        </p:nvSpPr>
        <p:spPr>
          <a:xfrm>
            <a:off x="4617720" y="3108960"/>
            <a:ext cx="3977640" cy="594360"/>
          </a:xfrm>
          <a:prstGeom prst="rect">
            <a:avLst/>
          </a:prstGeom>
          <a:solidFill>
            <a:srgbClr val="EEF2F7"/>
          </a:solidFill>
          <a:ln w="12700">
            <a:solidFill>
              <a:srgbClr val="DDDDDD"/>
            </a:solidFill>
            <a:prstDash val="solid"/>
          </a:ln>
        </p:spPr>
        <p:txBody>
          <a:bodyPr/>
          <a:lstStyle/>
          <a:p>
            <a:endParaRPr lang="en-US"/>
          </a:p>
        </p:txBody>
      </p:sp>
      <p:sp>
        <p:nvSpPr>
          <p:cNvPr id="28" name="Text 26"/>
          <p:cNvSpPr/>
          <p:nvPr/>
        </p:nvSpPr>
        <p:spPr>
          <a:xfrm>
            <a:off x="4736592" y="3154680"/>
            <a:ext cx="3749040" cy="256032"/>
          </a:xfrm>
          <a:prstGeom prst="rect">
            <a:avLst/>
          </a:prstGeom>
          <a:noFill/>
          <a:ln/>
        </p:spPr>
        <p:txBody>
          <a:bodyPr wrap="square" rtlCol="0" anchor="ctr"/>
          <a:lstStyle/>
          <a:p>
            <a:pPr marL="0" indent="0">
              <a:buNone/>
            </a:pPr>
            <a:r>
              <a:rPr lang="en-US" sz="1150" b="1" dirty="0">
                <a:solidFill>
                  <a:srgbClr val="1B4F72"/>
                </a:solidFill>
                <a:latin typeface="Calibri" pitchFamily="34" charset="0"/>
                <a:ea typeface="Calibri" pitchFamily="34" charset="-122"/>
                <a:cs typeface="Calibri" pitchFamily="34" charset="-120"/>
              </a:rPr>
              <a:t>account_emptied</a:t>
            </a:r>
            <a:endParaRPr lang="en-US" sz="1150" dirty="0"/>
          </a:p>
        </p:txBody>
      </p:sp>
      <p:sp>
        <p:nvSpPr>
          <p:cNvPr id="29" name="Text 27"/>
          <p:cNvSpPr/>
          <p:nvPr/>
        </p:nvSpPr>
        <p:spPr>
          <a:xfrm>
            <a:off x="4736592" y="3419856"/>
            <a:ext cx="3749040" cy="237744"/>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Sender balance went to zero. Replaced velocity which had near zero correlation.</a:t>
            </a:r>
            <a:endParaRPr lang="en-US" sz="1050" dirty="0"/>
          </a:p>
        </p:txBody>
      </p:sp>
      <p:sp>
        <p:nvSpPr>
          <p:cNvPr id="30" name="Shape 28"/>
          <p:cNvSpPr/>
          <p:nvPr/>
        </p:nvSpPr>
        <p:spPr>
          <a:xfrm>
            <a:off x="4617720" y="3803904"/>
            <a:ext cx="3977640" cy="594360"/>
          </a:xfrm>
          <a:prstGeom prst="rect">
            <a:avLst/>
          </a:prstGeom>
          <a:solidFill>
            <a:srgbClr val="F7F7F7"/>
          </a:solidFill>
          <a:ln w="12700">
            <a:solidFill>
              <a:srgbClr val="DDDDDD"/>
            </a:solidFill>
            <a:prstDash val="solid"/>
          </a:ln>
        </p:spPr>
        <p:txBody>
          <a:bodyPr/>
          <a:lstStyle/>
          <a:p>
            <a:endParaRPr lang="en-US"/>
          </a:p>
        </p:txBody>
      </p:sp>
      <p:sp>
        <p:nvSpPr>
          <p:cNvPr id="31" name="Text 29"/>
          <p:cNvSpPr/>
          <p:nvPr/>
        </p:nvSpPr>
        <p:spPr>
          <a:xfrm>
            <a:off x="4736592" y="3849624"/>
            <a:ext cx="3749040" cy="256032"/>
          </a:xfrm>
          <a:prstGeom prst="rect">
            <a:avLst/>
          </a:prstGeom>
          <a:noFill/>
          <a:ln/>
        </p:spPr>
        <p:txBody>
          <a:bodyPr wrap="square" rtlCol="0" anchor="ctr"/>
          <a:lstStyle/>
          <a:p>
            <a:pPr marL="0" indent="0">
              <a:buNone/>
            </a:pPr>
            <a:r>
              <a:rPr lang="en-US" sz="1150" b="1" dirty="0">
                <a:solidFill>
                  <a:srgbClr val="1B4F72"/>
                </a:solidFill>
                <a:latin typeface="Calibri" pitchFamily="34" charset="0"/>
                <a:ea typeface="Calibri" pitchFamily="34" charset="-122"/>
                <a:cs typeface="Calibri" pitchFamily="34" charset="-120"/>
              </a:rPr>
              <a:t>recipient_risk_score</a:t>
            </a:r>
            <a:endParaRPr lang="en-US" sz="1150" dirty="0"/>
          </a:p>
        </p:txBody>
      </p:sp>
      <p:sp>
        <p:nvSpPr>
          <p:cNvPr id="32" name="Text 30"/>
          <p:cNvSpPr/>
          <p:nvPr/>
        </p:nvSpPr>
        <p:spPr>
          <a:xfrm>
            <a:off x="4736592" y="4114800"/>
            <a:ext cx="3749040" cy="237744"/>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Recipient received fewer than 3 prior transactions. Proxy for money mule accounts.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Notebook 2: SMOTE and XGBoost Baseline</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Fixing the class imbalance and training the first model</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435608"/>
            <a:ext cx="3749040" cy="2011680"/>
          </a:xfrm>
          <a:prstGeom prst="rect">
            <a:avLst/>
          </a:prstGeom>
          <a:solidFill>
            <a:srgbClr val="EEF2F7"/>
          </a:solidFill>
          <a:ln w="12700">
            <a:solidFill>
              <a:srgbClr val="DDDDDD"/>
            </a:solidFill>
            <a:prstDash val="solid"/>
          </a:ln>
        </p:spPr>
        <p:txBody>
          <a:bodyPr/>
          <a:lstStyle/>
          <a:p>
            <a:endParaRPr lang="en-US"/>
          </a:p>
        </p:txBody>
      </p:sp>
      <p:sp>
        <p:nvSpPr>
          <p:cNvPr id="7" name="Text 5"/>
          <p:cNvSpPr/>
          <p:nvPr/>
        </p:nvSpPr>
        <p:spPr>
          <a:xfrm>
            <a:off x="685800" y="1389888"/>
            <a:ext cx="347472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The imbalance problem</a:t>
            </a:r>
            <a:endParaRPr lang="en-US" sz="1300" dirty="0"/>
          </a:p>
        </p:txBody>
      </p:sp>
      <p:sp>
        <p:nvSpPr>
          <p:cNvPr id="8" name="Text 6"/>
          <p:cNvSpPr/>
          <p:nvPr/>
        </p:nvSpPr>
        <p:spPr>
          <a:xfrm>
            <a:off x="685800" y="1755648"/>
            <a:ext cx="3474720" cy="1444752"/>
          </a:xfrm>
          <a:prstGeom prst="rect">
            <a:avLst/>
          </a:prstGeom>
          <a:noFill/>
          <a:ln/>
        </p:spPr>
        <p:txBody>
          <a:bodyPr wrap="square" rtlCol="0" anchor="ctr"/>
          <a:lstStyle/>
          <a:p>
            <a:pPr marL="0" indent="0">
              <a:spcAft>
                <a:spcPts val="500"/>
              </a:spcAft>
              <a:buNone/>
            </a:pPr>
            <a:endParaRPr lang="en-US" sz="1150" dirty="0">
              <a:solidFill>
                <a:srgbClr val="444444"/>
              </a:solidFill>
              <a:latin typeface="Calibri" pitchFamily="34" charset="0"/>
              <a:ea typeface="Calibri" pitchFamily="34" charset="-122"/>
              <a:cs typeface="Calibri" pitchFamily="34" charset="-120"/>
            </a:endParaRPr>
          </a:p>
          <a:p>
            <a:pPr>
              <a:spcAft>
                <a:spcPts val="500"/>
              </a:spcAft>
            </a:pPr>
            <a:r>
              <a:rPr lang="en-US" sz="1150" dirty="0">
                <a:solidFill>
                  <a:srgbClr val="444444"/>
                </a:solidFill>
                <a:latin typeface="Calibri" pitchFamily="34" charset="0"/>
                <a:ea typeface="Calibri" pitchFamily="34" charset="-122"/>
                <a:cs typeface="Calibri" pitchFamily="34" charset="-120"/>
              </a:rPr>
              <a:t>0.13% fraud means 1 fraud for every 770 normal transactions</a:t>
            </a:r>
          </a:p>
          <a:p>
            <a:pPr marL="0" indent="0">
              <a:spcAft>
                <a:spcPts val="500"/>
              </a:spcAft>
              <a:buNone/>
            </a:pPr>
            <a:r>
              <a:rPr lang="en-US" sz="1150" dirty="0">
                <a:solidFill>
                  <a:srgbClr val="444444"/>
                </a:solidFill>
                <a:latin typeface="Calibri" pitchFamily="34" charset="0"/>
                <a:ea typeface="Calibri" pitchFamily="34" charset="-122"/>
                <a:cs typeface="Calibri" pitchFamily="34" charset="-120"/>
              </a:rPr>
              <a:t>If trained on this raw data, the model predicts NOT FRAUD every time and gets 99.87% accuracy.</a:t>
            </a:r>
            <a:endParaRPr lang="en-US" sz="1150" dirty="0"/>
          </a:p>
          <a:p>
            <a:pPr marL="0" indent="0">
              <a:spcAft>
                <a:spcPts val="500"/>
              </a:spcAft>
              <a:buNone/>
            </a:pPr>
            <a:r>
              <a:rPr lang="en-US" sz="1150" dirty="0">
                <a:solidFill>
                  <a:srgbClr val="444444"/>
                </a:solidFill>
                <a:latin typeface="Calibri" pitchFamily="34" charset="0"/>
                <a:ea typeface="Calibri" pitchFamily="34" charset="-122"/>
                <a:cs typeface="Calibri" pitchFamily="34" charset="-120"/>
              </a:rPr>
              <a:t>That is completely useless for catching actual fraud.</a:t>
            </a:r>
            <a:endParaRPr lang="en-US" sz="1150" dirty="0"/>
          </a:p>
          <a:p>
            <a:pPr marL="0" indent="0">
              <a:spcAft>
                <a:spcPts val="500"/>
              </a:spcAft>
              <a:buNone/>
            </a:pPr>
            <a:r>
              <a:rPr lang="en-US" sz="1150" dirty="0">
                <a:solidFill>
                  <a:srgbClr val="444444"/>
                </a:solidFill>
                <a:latin typeface="Calibri" pitchFamily="34" charset="0"/>
                <a:ea typeface="Calibri" pitchFamily="34" charset="-122"/>
                <a:cs typeface="Calibri" pitchFamily="34" charset="-120"/>
              </a:rPr>
              <a:t>SMOTE fixes this by creating synthetic fraud examples by blending existing fraud transactions together using k-nearest </a:t>
            </a:r>
            <a:r>
              <a:rPr lang="en-US" sz="1150" dirty="0" err="1">
                <a:solidFill>
                  <a:srgbClr val="444444"/>
                </a:solidFill>
                <a:latin typeface="Calibri" pitchFamily="34" charset="0"/>
                <a:ea typeface="Calibri" pitchFamily="34" charset="-122"/>
                <a:cs typeface="Calibri" pitchFamily="34" charset="-120"/>
              </a:rPr>
              <a:t>neighbours.Applied</a:t>
            </a:r>
            <a:r>
              <a:rPr lang="en-US" sz="1150" dirty="0">
                <a:solidFill>
                  <a:srgbClr val="444444"/>
                </a:solidFill>
                <a:latin typeface="Calibri" pitchFamily="34" charset="0"/>
                <a:ea typeface="Calibri" pitchFamily="34" charset="-122"/>
                <a:cs typeface="Calibri" pitchFamily="34" charset="-120"/>
              </a:rPr>
              <a:t> to training data only, never the test set.</a:t>
            </a:r>
            <a:endParaRPr lang="en-US" sz="1150" dirty="0"/>
          </a:p>
        </p:txBody>
      </p:sp>
      <p:sp>
        <p:nvSpPr>
          <p:cNvPr id="9" name="Text 7"/>
          <p:cNvSpPr/>
          <p:nvPr/>
        </p:nvSpPr>
        <p:spPr>
          <a:xfrm>
            <a:off x="4617720" y="1298448"/>
            <a:ext cx="397764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Baseline Results</a:t>
            </a:r>
            <a:endParaRPr lang="en-US" sz="1300" dirty="0"/>
          </a:p>
        </p:txBody>
      </p:sp>
      <p:sp>
        <p:nvSpPr>
          <p:cNvPr id="10" name="Shape 8"/>
          <p:cNvSpPr/>
          <p:nvPr/>
        </p:nvSpPr>
        <p:spPr>
          <a:xfrm>
            <a:off x="4617720" y="1719072"/>
            <a:ext cx="3977640" cy="621792"/>
          </a:xfrm>
          <a:prstGeom prst="rect">
            <a:avLst/>
          </a:prstGeom>
          <a:solidFill>
            <a:srgbClr val="EEF2F7"/>
          </a:solidFill>
          <a:ln w="12700">
            <a:solidFill>
              <a:srgbClr val="DDDDDD"/>
            </a:solidFill>
            <a:prstDash val="solid"/>
          </a:ln>
        </p:spPr>
        <p:txBody>
          <a:bodyPr/>
          <a:lstStyle/>
          <a:p>
            <a:endParaRPr lang="en-US"/>
          </a:p>
        </p:txBody>
      </p:sp>
      <p:sp>
        <p:nvSpPr>
          <p:cNvPr id="11" name="Text 9"/>
          <p:cNvSpPr/>
          <p:nvPr/>
        </p:nvSpPr>
        <p:spPr>
          <a:xfrm>
            <a:off x="4736592" y="1764792"/>
            <a:ext cx="1463040" cy="256032"/>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Precision</a:t>
            </a:r>
            <a:endParaRPr lang="en-US" sz="1200" dirty="0"/>
          </a:p>
        </p:txBody>
      </p:sp>
      <p:sp>
        <p:nvSpPr>
          <p:cNvPr id="12" name="Text 10"/>
          <p:cNvSpPr/>
          <p:nvPr/>
        </p:nvSpPr>
        <p:spPr>
          <a:xfrm>
            <a:off x="6263640" y="1737360"/>
            <a:ext cx="1737360" cy="347472"/>
          </a:xfrm>
          <a:prstGeom prst="rect">
            <a:avLst/>
          </a:prstGeom>
          <a:noFill/>
          <a:ln/>
        </p:spPr>
        <p:txBody>
          <a:bodyPr wrap="square" rtlCol="0" anchor="ctr"/>
          <a:lstStyle/>
          <a:p>
            <a:pPr marL="0" indent="0" algn="r">
              <a:buNone/>
            </a:pPr>
            <a:r>
              <a:rPr lang="en-US" sz="2200" b="1" dirty="0">
                <a:solidFill>
                  <a:srgbClr val="0D1B2A"/>
                </a:solidFill>
                <a:latin typeface="Calibri" pitchFamily="34" charset="0"/>
                <a:ea typeface="Calibri" pitchFamily="34" charset="-122"/>
                <a:cs typeface="Calibri" pitchFamily="34" charset="-120"/>
              </a:rPr>
              <a:t>0.4603</a:t>
            </a:r>
            <a:endParaRPr lang="en-US" sz="2200" dirty="0"/>
          </a:p>
        </p:txBody>
      </p:sp>
      <p:sp>
        <p:nvSpPr>
          <p:cNvPr id="13" name="Text 11"/>
          <p:cNvSpPr/>
          <p:nvPr/>
        </p:nvSpPr>
        <p:spPr>
          <a:xfrm>
            <a:off x="4736592" y="2029968"/>
            <a:ext cx="3749040" cy="237744"/>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Model says fraud 46% correctly. Too many false alarms.</a:t>
            </a:r>
            <a:endParaRPr lang="en-US" sz="1000" dirty="0"/>
          </a:p>
        </p:txBody>
      </p:sp>
      <p:sp>
        <p:nvSpPr>
          <p:cNvPr id="14" name="Shape 12"/>
          <p:cNvSpPr/>
          <p:nvPr/>
        </p:nvSpPr>
        <p:spPr>
          <a:xfrm>
            <a:off x="4617720" y="2468880"/>
            <a:ext cx="3977640" cy="621792"/>
          </a:xfrm>
          <a:prstGeom prst="rect">
            <a:avLst/>
          </a:prstGeom>
          <a:solidFill>
            <a:srgbClr val="F7F7F7"/>
          </a:solidFill>
          <a:ln w="12700">
            <a:solidFill>
              <a:srgbClr val="DDDDDD"/>
            </a:solidFill>
            <a:prstDash val="solid"/>
          </a:ln>
        </p:spPr>
        <p:txBody>
          <a:bodyPr/>
          <a:lstStyle/>
          <a:p>
            <a:endParaRPr lang="en-US"/>
          </a:p>
        </p:txBody>
      </p:sp>
      <p:sp>
        <p:nvSpPr>
          <p:cNvPr id="15" name="Text 13"/>
          <p:cNvSpPr/>
          <p:nvPr/>
        </p:nvSpPr>
        <p:spPr>
          <a:xfrm>
            <a:off x="4736592" y="2514600"/>
            <a:ext cx="1463040" cy="256032"/>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Recall</a:t>
            </a:r>
            <a:endParaRPr lang="en-US" sz="1200" dirty="0"/>
          </a:p>
        </p:txBody>
      </p:sp>
      <p:sp>
        <p:nvSpPr>
          <p:cNvPr id="16" name="Text 14"/>
          <p:cNvSpPr/>
          <p:nvPr/>
        </p:nvSpPr>
        <p:spPr>
          <a:xfrm>
            <a:off x="6263640" y="2487168"/>
            <a:ext cx="1737360" cy="347472"/>
          </a:xfrm>
          <a:prstGeom prst="rect">
            <a:avLst/>
          </a:prstGeom>
          <a:noFill/>
          <a:ln/>
        </p:spPr>
        <p:txBody>
          <a:bodyPr wrap="square" rtlCol="0" anchor="ctr"/>
          <a:lstStyle/>
          <a:p>
            <a:pPr marL="0" indent="0" algn="r">
              <a:buNone/>
            </a:pPr>
            <a:r>
              <a:rPr lang="en-US" sz="2200" b="1" dirty="0">
                <a:solidFill>
                  <a:srgbClr val="0D1B2A"/>
                </a:solidFill>
                <a:latin typeface="Calibri" pitchFamily="34" charset="0"/>
                <a:ea typeface="Calibri" pitchFamily="34" charset="-122"/>
                <a:cs typeface="Calibri" pitchFamily="34" charset="-120"/>
              </a:rPr>
              <a:t>0.9951</a:t>
            </a:r>
            <a:endParaRPr lang="en-US" sz="2200" dirty="0"/>
          </a:p>
        </p:txBody>
      </p:sp>
      <p:sp>
        <p:nvSpPr>
          <p:cNvPr id="17" name="Text 15"/>
          <p:cNvSpPr/>
          <p:nvPr/>
        </p:nvSpPr>
        <p:spPr>
          <a:xfrm>
            <a:off x="4736592" y="2779776"/>
            <a:ext cx="3749040" cy="237744"/>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99.5% of fraud caught. Only 8 transactions missed.</a:t>
            </a:r>
            <a:endParaRPr lang="en-US" sz="1000" dirty="0"/>
          </a:p>
        </p:txBody>
      </p:sp>
      <p:sp>
        <p:nvSpPr>
          <p:cNvPr id="18" name="Shape 16"/>
          <p:cNvSpPr/>
          <p:nvPr/>
        </p:nvSpPr>
        <p:spPr>
          <a:xfrm>
            <a:off x="4617720" y="3218688"/>
            <a:ext cx="3977640" cy="621792"/>
          </a:xfrm>
          <a:prstGeom prst="rect">
            <a:avLst/>
          </a:prstGeom>
          <a:solidFill>
            <a:srgbClr val="EEF2F7"/>
          </a:solidFill>
          <a:ln w="12700">
            <a:solidFill>
              <a:srgbClr val="DDDDDD"/>
            </a:solidFill>
            <a:prstDash val="solid"/>
          </a:ln>
        </p:spPr>
        <p:txBody>
          <a:bodyPr/>
          <a:lstStyle/>
          <a:p>
            <a:endParaRPr lang="en-US"/>
          </a:p>
        </p:txBody>
      </p:sp>
      <p:sp>
        <p:nvSpPr>
          <p:cNvPr id="19" name="Text 17"/>
          <p:cNvSpPr/>
          <p:nvPr/>
        </p:nvSpPr>
        <p:spPr>
          <a:xfrm>
            <a:off x="4736592" y="3264408"/>
            <a:ext cx="1463040" cy="256032"/>
          </a:xfrm>
          <a:prstGeom prst="rect">
            <a:avLst/>
          </a:prstGeom>
          <a:noFill/>
          <a:ln/>
        </p:spPr>
        <p:txBody>
          <a:bodyPr wrap="square" rtlCol="0" anchor="ctr"/>
          <a:lstStyle/>
          <a:p>
            <a:pPr marL="0" indent="0">
              <a:buNone/>
            </a:pPr>
            <a:r>
              <a:rPr lang="en-US" sz="1200" b="1" dirty="0">
                <a:solidFill>
                  <a:srgbClr val="1B4F72"/>
                </a:solidFill>
                <a:latin typeface="Calibri" pitchFamily="34" charset="0"/>
                <a:ea typeface="Calibri" pitchFamily="34" charset="-122"/>
                <a:cs typeface="Calibri" pitchFamily="34" charset="-120"/>
              </a:rPr>
              <a:t>AUC</a:t>
            </a:r>
            <a:endParaRPr lang="en-US" sz="1200" dirty="0"/>
          </a:p>
        </p:txBody>
      </p:sp>
      <p:sp>
        <p:nvSpPr>
          <p:cNvPr id="20" name="Text 18"/>
          <p:cNvSpPr/>
          <p:nvPr/>
        </p:nvSpPr>
        <p:spPr>
          <a:xfrm>
            <a:off x="6263640" y="3236976"/>
            <a:ext cx="1737360" cy="347472"/>
          </a:xfrm>
          <a:prstGeom prst="rect">
            <a:avLst/>
          </a:prstGeom>
          <a:noFill/>
          <a:ln/>
        </p:spPr>
        <p:txBody>
          <a:bodyPr wrap="square" rtlCol="0" anchor="ctr"/>
          <a:lstStyle/>
          <a:p>
            <a:pPr marL="0" indent="0" algn="r">
              <a:buNone/>
            </a:pPr>
            <a:r>
              <a:rPr lang="en-US" sz="2200" b="1" dirty="0">
                <a:solidFill>
                  <a:srgbClr val="0D1B2A"/>
                </a:solidFill>
                <a:latin typeface="Calibri" pitchFamily="34" charset="0"/>
                <a:ea typeface="Calibri" pitchFamily="34" charset="-122"/>
                <a:cs typeface="Calibri" pitchFamily="34" charset="-120"/>
              </a:rPr>
              <a:t>0.9983</a:t>
            </a:r>
            <a:endParaRPr lang="en-US" sz="2200" dirty="0"/>
          </a:p>
        </p:txBody>
      </p:sp>
      <p:sp>
        <p:nvSpPr>
          <p:cNvPr id="21" name="Text 19"/>
          <p:cNvSpPr/>
          <p:nvPr/>
        </p:nvSpPr>
        <p:spPr>
          <a:xfrm>
            <a:off x="4736592" y="3529584"/>
            <a:ext cx="3749040" cy="237744"/>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Strong overall separation of fraud vs normal.</a:t>
            </a:r>
            <a:endParaRPr lang="en-US" sz="1000" dirty="0"/>
          </a:p>
        </p:txBody>
      </p:sp>
      <p:sp>
        <p:nvSpPr>
          <p:cNvPr id="22" name="Shape 20"/>
          <p:cNvSpPr/>
          <p:nvPr/>
        </p:nvSpPr>
        <p:spPr>
          <a:xfrm>
            <a:off x="548640" y="3984498"/>
            <a:ext cx="8046720" cy="548640"/>
          </a:xfrm>
          <a:prstGeom prst="rect">
            <a:avLst/>
          </a:prstGeom>
          <a:solidFill>
            <a:srgbClr val="F7F7F7"/>
          </a:solidFill>
          <a:ln w="12700">
            <a:solidFill>
              <a:srgbClr val="DDDDDD"/>
            </a:solidFill>
            <a:prstDash val="solid"/>
          </a:ln>
        </p:spPr>
        <p:txBody>
          <a:bodyPr/>
          <a:lstStyle/>
          <a:p>
            <a:r>
              <a:rPr lang="en-US" dirty="0">
                <a:solidFill>
                  <a:srgbClr val="444444"/>
                </a:solidFill>
                <a:latin typeface="Calibri" pitchFamily="34" charset="0"/>
                <a:ea typeface="Calibri" pitchFamily="34" charset="-122"/>
                <a:cs typeface="Calibri" pitchFamily="34" charset="-120"/>
              </a:rPr>
              <a:t>Recall is excellent. Precision needs improvement. Notebook 3 addresses this with tuning.</a:t>
            </a:r>
            <a:endParaRPr lang="en-US" dirty="0"/>
          </a:p>
          <a:p>
            <a:endParaRPr lang="en-US" dirty="0"/>
          </a:p>
        </p:txBody>
      </p:sp>
      <p:sp>
        <p:nvSpPr>
          <p:cNvPr id="23" name="Text 21"/>
          <p:cNvSpPr/>
          <p:nvPr/>
        </p:nvSpPr>
        <p:spPr>
          <a:xfrm>
            <a:off x="685800" y="3538728"/>
            <a:ext cx="7772400" cy="384048"/>
          </a:xfrm>
          <a:prstGeom prst="rect">
            <a:avLst/>
          </a:prstGeom>
          <a:noFill/>
          <a:ln/>
        </p:spPr>
        <p:txBody>
          <a:bodyPr wrap="square" rtlCol="0" anchor="ctr"/>
          <a:lstStyle/>
          <a:p>
            <a:pPr marL="0" indent="0" algn="ctr">
              <a:buNone/>
            </a:pP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Notebook 3: Optuna Hyperparameter Tuning</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Finding the best XGBoost settings automatically</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298448"/>
            <a:ext cx="5029200" cy="2743200"/>
          </a:xfrm>
          <a:prstGeom prst="rect">
            <a:avLst/>
          </a:prstGeom>
          <a:solidFill>
            <a:srgbClr val="EEF2F7"/>
          </a:solidFill>
          <a:ln w="12700">
            <a:solidFill>
              <a:srgbClr val="DDDDDD"/>
            </a:solidFill>
            <a:prstDash val="solid"/>
          </a:ln>
        </p:spPr>
        <p:txBody>
          <a:bodyPr/>
          <a:lstStyle/>
          <a:p>
            <a:endParaRPr lang="en-US"/>
          </a:p>
        </p:txBody>
      </p:sp>
      <p:sp>
        <p:nvSpPr>
          <p:cNvPr id="7" name="Text 5"/>
          <p:cNvSpPr/>
          <p:nvPr/>
        </p:nvSpPr>
        <p:spPr>
          <a:xfrm>
            <a:off x="685800" y="1389888"/>
            <a:ext cx="475488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How Optuna works</a:t>
            </a:r>
            <a:endParaRPr lang="en-US" sz="1300" dirty="0"/>
          </a:p>
        </p:txBody>
      </p:sp>
      <p:sp>
        <p:nvSpPr>
          <p:cNvPr id="8" name="Shape 6"/>
          <p:cNvSpPr/>
          <p:nvPr/>
        </p:nvSpPr>
        <p:spPr>
          <a:xfrm>
            <a:off x="713232" y="1801368"/>
            <a:ext cx="128016" cy="128016"/>
          </a:xfrm>
          <a:prstGeom prst="rect">
            <a:avLst/>
          </a:prstGeom>
          <a:solidFill>
            <a:srgbClr val="1B4F72"/>
          </a:solidFill>
          <a:ln/>
        </p:spPr>
        <p:txBody>
          <a:bodyPr/>
          <a:lstStyle/>
          <a:p>
            <a:endParaRPr lang="en-US"/>
          </a:p>
        </p:txBody>
      </p:sp>
      <p:sp>
        <p:nvSpPr>
          <p:cNvPr id="9" name="Text 7"/>
          <p:cNvSpPr/>
          <p:nvPr/>
        </p:nvSpPr>
        <p:spPr>
          <a:xfrm>
            <a:off x="932688" y="1764792"/>
            <a:ext cx="4526280" cy="237744"/>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Optuna runs 50 trials</a:t>
            </a:r>
            <a:endParaRPr lang="en-US" sz="1150" dirty="0"/>
          </a:p>
        </p:txBody>
      </p:sp>
      <p:sp>
        <p:nvSpPr>
          <p:cNvPr id="10" name="Shape 8"/>
          <p:cNvSpPr/>
          <p:nvPr/>
        </p:nvSpPr>
        <p:spPr>
          <a:xfrm>
            <a:off x="713232" y="2130552"/>
            <a:ext cx="128016" cy="128016"/>
          </a:xfrm>
          <a:prstGeom prst="rect">
            <a:avLst/>
          </a:prstGeom>
          <a:solidFill>
            <a:srgbClr val="1B4F72"/>
          </a:solidFill>
          <a:ln/>
        </p:spPr>
        <p:txBody>
          <a:bodyPr/>
          <a:lstStyle/>
          <a:p>
            <a:endParaRPr lang="en-US"/>
          </a:p>
        </p:txBody>
      </p:sp>
      <p:sp>
        <p:nvSpPr>
          <p:cNvPr id="11" name="Text 9"/>
          <p:cNvSpPr/>
          <p:nvPr/>
        </p:nvSpPr>
        <p:spPr>
          <a:xfrm>
            <a:off x="932688" y="2093976"/>
            <a:ext cx="4526280" cy="237744"/>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Each trial trains XGBoost with different settings</a:t>
            </a:r>
            <a:endParaRPr lang="en-US" sz="1150" dirty="0"/>
          </a:p>
        </p:txBody>
      </p:sp>
      <p:sp>
        <p:nvSpPr>
          <p:cNvPr id="12" name="Shape 10"/>
          <p:cNvSpPr/>
          <p:nvPr/>
        </p:nvSpPr>
        <p:spPr>
          <a:xfrm>
            <a:off x="713232" y="2459736"/>
            <a:ext cx="128016" cy="128016"/>
          </a:xfrm>
          <a:prstGeom prst="rect">
            <a:avLst/>
          </a:prstGeom>
          <a:solidFill>
            <a:srgbClr val="1B4F72"/>
          </a:solidFill>
          <a:ln/>
        </p:spPr>
        <p:txBody>
          <a:bodyPr/>
          <a:lstStyle/>
          <a:p>
            <a:endParaRPr lang="en-US"/>
          </a:p>
        </p:txBody>
      </p:sp>
      <p:sp>
        <p:nvSpPr>
          <p:cNvPr id="13" name="Text 11"/>
          <p:cNvSpPr/>
          <p:nvPr/>
        </p:nvSpPr>
        <p:spPr>
          <a:xfrm>
            <a:off x="932688" y="2423160"/>
            <a:ext cx="4526280" cy="237744"/>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Settings tried: learning rate, max depth, number of estimators, subsample ratio</a:t>
            </a:r>
            <a:endParaRPr lang="en-US" sz="1150" dirty="0"/>
          </a:p>
        </p:txBody>
      </p:sp>
      <p:sp>
        <p:nvSpPr>
          <p:cNvPr id="14" name="Shape 12"/>
          <p:cNvSpPr/>
          <p:nvPr/>
        </p:nvSpPr>
        <p:spPr>
          <a:xfrm>
            <a:off x="713232" y="2788920"/>
            <a:ext cx="128016" cy="128016"/>
          </a:xfrm>
          <a:prstGeom prst="rect">
            <a:avLst/>
          </a:prstGeom>
          <a:solidFill>
            <a:srgbClr val="1B4F72"/>
          </a:solidFill>
          <a:ln/>
        </p:spPr>
        <p:txBody>
          <a:bodyPr/>
          <a:lstStyle/>
          <a:p>
            <a:endParaRPr lang="en-US"/>
          </a:p>
        </p:txBody>
      </p:sp>
      <p:sp>
        <p:nvSpPr>
          <p:cNvPr id="15" name="Text 13"/>
          <p:cNvSpPr/>
          <p:nvPr/>
        </p:nvSpPr>
        <p:spPr>
          <a:xfrm>
            <a:off x="932688" y="2752344"/>
            <a:ext cx="4526280" cy="237744"/>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Each trial checks precision on the test set</a:t>
            </a:r>
            <a:endParaRPr lang="en-US" sz="1150" dirty="0"/>
          </a:p>
        </p:txBody>
      </p:sp>
      <p:sp>
        <p:nvSpPr>
          <p:cNvPr id="16" name="Shape 14"/>
          <p:cNvSpPr/>
          <p:nvPr/>
        </p:nvSpPr>
        <p:spPr>
          <a:xfrm>
            <a:off x="713232" y="3118104"/>
            <a:ext cx="128016" cy="128016"/>
          </a:xfrm>
          <a:prstGeom prst="rect">
            <a:avLst/>
          </a:prstGeom>
          <a:solidFill>
            <a:srgbClr val="1B4F72"/>
          </a:solidFill>
          <a:ln/>
        </p:spPr>
        <p:txBody>
          <a:bodyPr/>
          <a:lstStyle/>
          <a:p>
            <a:endParaRPr lang="en-US"/>
          </a:p>
        </p:txBody>
      </p:sp>
      <p:sp>
        <p:nvSpPr>
          <p:cNvPr id="17" name="Text 15"/>
          <p:cNvSpPr/>
          <p:nvPr/>
        </p:nvSpPr>
        <p:spPr>
          <a:xfrm>
            <a:off x="932688" y="3081528"/>
            <a:ext cx="4526280" cy="237744"/>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Optuna uses previous trial results to choose the next settings intelligently</a:t>
            </a:r>
            <a:endParaRPr lang="en-US" sz="1150" dirty="0"/>
          </a:p>
        </p:txBody>
      </p:sp>
      <p:sp>
        <p:nvSpPr>
          <p:cNvPr id="18" name="Shape 16"/>
          <p:cNvSpPr/>
          <p:nvPr/>
        </p:nvSpPr>
        <p:spPr>
          <a:xfrm>
            <a:off x="713232" y="3447288"/>
            <a:ext cx="128016" cy="128016"/>
          </a:xfrm>
          <a:prstGeom prst="rect">
            <a:avLst/>
          </a:prstGeom>
          <a:solidFill>
            <a:srgbClr val="1B4F72"/>
          </a:solidFill>
          <a:ln/>
        </p:spPr>
        <p:txBody>
          <a:bodyPr/>
          <a:lstStyle/>
          <a:p>
            <a:endParaRPr lang="en-US"/>
          </a:p>
        </p:txBody>
      </p:sp>
      <p:sp>
        <p:nvSpPr>
          <p:cNvPr id="19" name="Text 17"/>
          <p:cNvSpPr/>
          <p:nvPr/>
        </p:nvSpPr>
        <p:spPr>
          <a:xfrm>
            <a:off x="932688" y="3410712"/>
            <a:ext cx="4526280" cy="237744"/>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Much faster than grid search which tries every combination</a:t>
            </a:r>
            <a:endParaRPr lang="en-US" sz="1150" dirty="0"/>
          </a:p>
        </p:txBody>
      </p:sp>
      <p:sp>
        <p:nvSpPr>
          <p:cNvPr id="20" name="Shape 18"/>
          <p:cNvSpPr/>
          <p:nvPr/>
        </p:nvSpPr>
        <p:spPr>
          <a:xfrm>
            <a:off x="713232" y="3776472"/>
            <a:ext cx="128016" cy="128016"/>
          </a:xfrm>
          <a:prstGeom prst="rect">
            <a:avLst/>
          </a:prstGeom>
          <a:solidFill>
            <a:srgbClr val="1B4F72"/>
          </a:solidFill>
          <a:ln/>
        </p:spPr>
        <p:txBody>
          <a:bodyPr/>
          <a:lstStyle/>
          <a:p>
            <a:endParaRPr lang="en-US"/>
          </a:p>
        </p:txBody>
      </p:sp>
      <p:sp>
        <p:nvSpPr>
          <p:cNvPr id="21" name="Text 19"/>
          <p:cNvSpPr/>
          <p:nvPr/>
        </p:nvSpPr>
        <p:spPr>
          <a:xfrm>
            <a:off x="932688" y="3739896"/>
            <a:ext cx="4526280" cy="237744"/>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After 50 trials it reports the best settings found</a:t>
            </a:r>
            <a:endParaRPr lang="en-US" sz="1150" dirty="0"/>
          </a:p>
        </p:txBody>
      </p:sp>
      <p:sp>
        <p:nvSpPr>
          <p:cNvPr id="22" name="Text 20"/>
          <p:cNvSpPr/>
          <p:nvPr/>
        </p:nvSpPr>
        <p:spPr>
          <a:xfrm>
            <a:off x="5852160" y="1298448"/>
            <a:ext cx="274320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Before vs after tuning</a:t>
            </a:r>
            <a:endParaRPr lang="en-US" sz="1300" dirty="0"/>
          </a:p>
        </p:txBody>
      </p:sp>
      <p:sp>
        <p:nvSpPr>
          <p:cNvPr id="23" name="Shape 21"/>
          <p:cNvSpPr/>
          <p:nvPr/>
        </p:nvSpPr>
        <p:spPr>
          <a:xfrm>
            <a:off x="5852160" y="1719072"/>
            <a:ext cx="1005840" cy="429768"/>
          </a:xfrm>
          <a:prstGeom prst="rect">
            <a:avLst/>
          </a:prstGeom>
          <a:solidFill>
            <a:srgbClr val="0D1B2A"/>
          </a:solidFill>
          <a:ln w="12700">
            <a:solidFill>
              <a:srgbClr val="DDDDDD"/>
            </a:solidFill>
            <a:prstDash val="solid"/>
          </a:ln>
        </p:spPr>
        <p:txBody>
          <a:bodyPr/>
          <a:lstStyle/>
          <a:p>
            <a:endParaRPr lang="en-US"/>
          </a:p>
        </p:txBody>
      </p:sp>
      <p:sp>
        <p:nvSpPr>
          <p:cNvPr id="24" name="Text 22"/>
          <p:cNvSpPr/>
          <p:nvPr/>
        </p:nvSpPr>
        <p:spPr>
          <a:xfrm>
            <a:off x="5852160" y="1719072"/>
            <a:ext cx="1005840" cy="429768"/>
          </a:xfrm>
          <a:prstGeom prst="rect">
            <a:avLst/>
          </a:prstGeom>
          <a:noFill/>
          <a:ln/>
        </p:spPr>
        <p:txBody>
          <a:bodyPr wrap="square" rtlCol="0" anchor="ctr"/>
          <a:lstStyle/>
          <a:p>
            <a:pPr marL="0" indent="0" algn="ctr">
              <a:buNone/>
            </a:pPr>
            <a:endParaRPr lang="en-US" sz="1000" dirty="0"/>
          </a:p>
        </p:txBody>
      </p:sp>
      <p:sp>
        <p:nvSpPr>
          <p:cNvPr id="25" name="Shape 23"/>
          <p:cNvSpPr/>
          <p:nvPr/>
        </p:nvSpPr>
        <p:spPr>
          <a:xfrm>
            <a:off x="6903720" y="1719072"/>
            <a:ext cx="822960" cy="429768"/>
          </a:xfrm>
          <a:prstGeom prst="rect">
            <a:avLst/>
          </a:prstGeom>
          <a:solidFill>
            <a:srgbClr val="0D1B2A"/>
          </a:solidFill>
          <a:ln w="12700">
            <a:solidFill>
              <a:srgbClr val="DDDDDD"/>
            </a:solidFill>
            <a:prstDash val="solid"/>
          </a:ln>
        </p:spPr>
        <p:txBody>
          <a:bodyPr/>
          <a:lstStyle/>
          <a:p>
            <a:endParaRPr lang="en-US"/>
          </a:p>
        </p:txBody>
      </p:sp>
      <p:sp>
        <p:nvSpPr>
          <p:cNvPr id="26" name="Text 24"/>
          <p:cNvSpPr/>
          <p:nvPr/>
        </p:nvSpPr>
        <p:spPr>
          <a:xfrm>
            <a:off x="6903720" y="1719072"/>
            <a:ext cx="822960" cy="4297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Baseline</a:t>
            </a:r>
            <a:endParaRPr lang="en-US" sz="1000" dirty="0"/>
          </a:p>
        </p:txBody>
      </p:sp>
      <p:sp>
        <p:nvSpPr>
          <p:cNvPr id="27" name="Shape 25"/>
          <p:cNvSpPr/>
          <p:nvPr/>
        </p:nvSpPr>
        <p:spPr>
          <a:xfrm>
            <a:off x="7772400" y="1719072"/>
            <a:ext cx="822960" cy="429768"/>
          </a:xfrm>
          <a:prstGeom prst="rect">
            <a:avLst/>
          </a:prstGeom>
          <a:solidFill>
            <a:srgbClr val="0D1B2A"/>
          </a:solidFill>
          <a:ln w="12700">
            <a:solidFill>
              <a:srgbClr val="DDDDDD"/>
            </a:solidFill>
            <a:prstDash val="solid"/>
          </a:ln>
        </p:spPr>
        <p:txBody>
          <a:bodyPr/>
          <a:lstStyle/>
          <a:p>
            <a:endParaRPr lang="en-US"/>
          </a:p>
        </p:txBody>
      </p:sp>
      <p:sp>
        <p:nvSpPr>
          <p:cNvPr id="28" name="Text 26"/>
          <p:cNvSpPr/>
          <p:nvPr/>
        </p:nvSpPr>
        <p:spPr>
          <a:xfrm>
            <a:off x="7772400" y="1719072"/>
            <a:ext cx="822960" cy="4297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Tuned</a:t>
            </a:r>
            <a:endParaRPr lang="en-US" sz="1000" dirty="0"/>
          </a:p>
        </p:txBody>
      </p:sp>
      <p:sp>
        <p:nvSpPr>
          <p:cNvPr id="29" name="Shape 27"/>
          <p:cNvSpPr/>
          <p:nvPr/>
        </p:nvSpPr>
        <p:spPr>
          <a:xfrm>
            <a:off x="5852160" y="2194560"/>
            <a:ext cx="1005840" cy="429768"/>
          </a:xfrm>
          <a:prstGeom prst="rect">
            <a:avLst/>
          </a:prstGeom>
          <a:solidFill>
            <a:srgbClr val="F7F7F7"/>
          </a:solidFill>
          <a:ln w="12700">
            <a:solidFill>
              <a:srgbClr val="DDDDDD"/>
            </a:solidFill>
            <a:prstDash val="solid"/>
          </a:ln>
        </p:spPr>
        <p:txBody>
          <a:bodyPr/>
          <a:lstStyle/>
          <a:p>
            <a:endParaRPr lang="en-US"/>
          </a:p>
        </p:txBody>
      </p:sp>
      <p:sp>
        <p:nvSpPr>
          <p:cNvPr id="30" name="Text 28"/>
          <p:cNvSpPr/>
          <p:nvPr/>
        </p:nvSpPr>
        <p:spPr>
          <a:xfrm>
            <a:off x="5852160" y="2194560"/>
            <a:ext cx="1005840" cy="429768"/>
          </a:xfrm>
          <a:prstGeom prst="rect">
            <a:avLst/>
          </a:prstGeom>
          <a:noFill/>
          <a:ln/>
        </p:spPr>
        <p:txBody>
          <a:bodyPr wrap="square"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Precision</a:t>
            </a:r>
            <a:endParaRPr lang="en-US" sz="1200" dirty="0"/>
          </a:p>
        </p:txBody>
      </p:sp>
      <p:sp>
        <p:nvSpPr>
          <p:cNvPr id="31" name="Shape 29"/>
          <p:cNvSpPr/>
          <p:nvPr/>
        </p:nvSpPr>
        <p:spPr>
          <a:xfrm>
            <a:off x="6903720" y="2194560"/>
            <a:ext cx="822960" cy="429768"/>
          </a:xfrm>
          <a:prstGeom prst="rect">
            <a:avLst/>
          </a:prstGeom>
          <a:solidFill>
            <a:srgbClr val="F7F7F7"/>
          </a:solidFill>
          <a:ln w="12700">
            <a:solidFill>
              <a:srgbClr val="DDDDDD"/>
            </a:solidFill>
            <a:prstDash val="solid"/>
          </a:ln>
        </p:spPr>
        <p:txBody>
          <a:bodyPr/>
          <a:lstStyle/>
          <a:p>
            <a:endParaRPr lang="en-US"/>
          </a:p>
        </p:txBody>
      </p:sp>
      <p:sp>
        <p:nvSpPr>
          <p:cNvPr id="32" name="Text 30"/>
          <p:cNvSpPr/>
          <p:nvPr/>
        </p:nvSpPr>
        <p:spPr>
          <a:xfrm>
            <a:off x="6903720" y="2194560"/>
            <a:ext cx="822960" cy="42976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0.4603</a:t>
            </a:r>
            <a:endParaRPr lang="en-US" sz="1200" dirty="0"/>
          </a:p>
        </p:txBody>
      </p:sp>
      <p:sp>
        <p:nvSpPr>
          <p:cNvPr id="33" name="Shape 31"/>
          <p:cNvSpPr/>
          <p:nvPr/>
        </p:nvSpPr>
        <p:spPr>
          <a:xfrm>
            <a:off x="7772400" y="2194560"/>
            <a:ext cx="822960" cy="429768"/>
          </a:xfrm>
          <a:prstGeom prst="rect">
            <a:avLst/>
          </a:prstGeom>
          <a:solidFill>
            <a:srgbClr val="F7F7F7"/>
          </a:solidFill>
          <a:ln w="12700">
            <a:solidFill>
              <a:srgbClr val="DDDDDD"/>
            </a:solidFill>
            <a:prstDash val="solid"/>
          </a:ln>
        </p:spPr>
        <p:txBody>
          <a:bodyPr/>
          <a:lstStyle/>
          <a:p>
            <a:endParaRPr lang="en-US"/>
          </a:p>
        </p:txBody>
      </p:sp>
      <p:sp>
        <p:nvSpPr>
          <p:cNvPr id="34" name="Text 32"/>
          <p:cNvSpPr/>
          <p:nvPr/>
        </p:nvSpPr>
        <p:spPr>
          <a:xfrm>
            <a:off x="7772400" y="2194560"/>
            <a:ext cx="822960" cy="429768"/>
          </a:xfrm>
          <a:prstGeom prst="rect">
            <a:avLst/>
          </a:prstGeom>
          <a:noFill/>
          <a:ln/>
        </p:spPr>
        <p:txBody>
          <a:bodyPr wrap="square" rtlCol="0" anchor="ctr"/>
          <a:lstStyle/>
          <a:p>
            <a:pPr marL="0" indent="0" algn="ctr">
              <a:buNone/>
            </a:pPr>
            <a:r>
              <a:rPr lang="en-US" sz="1200" dirty="0">
                <a:solidFill>
                  <a:srgbClr val="1B4F72"/>
                </a:solidFill>
                <a:latin typeface="Calibri" pitchFamily="34" charset="0"/>
                <a:ea typeface="Calibri" pitchFamily="34" charset="-122"/>
                <a:cs typeface="Calibri" pitchFamily="34" charset="-120"/>
              </a:rPr>
              <a:t>0.4932</a:t>
            </a:r>
            <a:endParaRPr lang="en-US" sz="1200" dirty="0"/>
          </a:p>
        </p:txBody>
      </p:sp>
      <p:sp>
        <p:nvSpPr>
          <p:cNvPr id="35" name="Shape 33"/>
          <p:cNvSpPr/>
          <p:nvPr/>
        </p:nvSpPr>
        <p:spPr>
          <a:xfrm>
            <a:off x="5852160" y="2670048"/>
            <a:ext cx="1005840" cy="429768"/>
          </a:xfrm>
          <a:prstGeom prst="rect">
            <a:avLst/>
          </a:prstGeom>
          <a:solidFill>
            <a:srgbClr val="EEF2F7"/>
          </a:solidFill>
          <a:ln w="12700">
            <a:solidFill>
              <a:srgbClr val="DDDDDD"/>
            </a:solidFill>
            <a:prstDash val="solid"/>
          </a:ln>
        </p:spPr>
        <p:txBody>
          <a:bodyPr/>
          <a:lstStyle/>
          <a:p>
            <a:endParaRPr lang="en-US"/>
          </a:p>
        </p:txBody>
      </p:sp>
      <p:sp>
        <p:nvSpPr>
          <p:cNvPr id="36" name="Text 34"/>
          <p:cNvSpPr/>
          <p:nvPr/>
        </p:nvSpPr>
        <p:spPr>
          <a:xfrm>
            <a:off x="5852160" y="2670048"/>
            <a:ext cx="1005840" cy="429768"/>
          </a:xfrm>
          <a:prstGeom prst="rect">
            <a:avLst/>
          </a:prstGeom>
          <a:noFill/>
          <a:ln/>
        </p:spPr>
        <p:txBody>
          <a:bodyPr wrap="square"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Recall</a:t>
            </a:r>
            <a:endParaRPr lang="en-US" sz="1200" dirty="0"/>
          </a:p>
        </p:txBody>
      </p:sp>
      <p:sp>
        <p:nvSpPr>
          <p:cNvPr id="37" name="Shape 35"/>
          <p:cNvSpPr/>
          <p:nvPr/>
        </p:nvSpPr>
        <p:spPr>
          <a:xfrm>
            <a:off x="6903720" y="2670048"/>
            <a:ext cx="822960" cy="429768"/>
          </a:xfrm>
          <a:prstGeom prst="rect">
            <a:avLst/>
          </a:prstGeom>
          <a:solidFill>
            <a:srgbClr val="EEF2F7"/>
          </a:solidFill>
          <a:ln w="12700">
            <a:solidFill>
              <a:srgbClr val="DDDDDD"/>
            </a:solidFill>
            <a:prstDash val="solid"/>
          </a:ln>
        </p:spPr>
        <p:txBody>
          <a:bodyPr/>
          <a:lstStyle/>
          <a:p>
            <a:endParaRPr lang="en-US"/>
          </a:p>
        </p:txBody>
      </p:sp>
      <p:sp>
        <p:nvSpPr>
          <p:cNvPr id="38" name="Text 36"/>
          <p:cNvSpPr/>
          <p:nvPr/>
        </p:nvSpPr>
        <p:spPr>
          <a:xfrm>
            <a:off x="6903720" y="2670048"/>
            <a:ext cx="822960" cy="42976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0.9951</a:t>
            </a:r>
            <a:endParaRPr lang="en-US" sz="1200" dirty="0"/>
          </a:p>
        </p:txBody>
      </p:sp>
      <p:sp>
        <p:nvSpPr>
          <p:cNvPr id="39" name="Shape 37"/>
          <p:cNvSpPr/>
          <p:nvPr/>
        </p:nvSpPr>
        <p:spPr>
          <a:xfrm>
            <a:off x="7772400" y="2670048"/>
            <a:ext cx="822960" cy="429768"/>
          </a:xfrm>
          <a:prstGeom prst="rect">
            <a:avLst/>
          </a:prstGeom>
          <a:solidFill>
            <a:srgbClr val="EEF2F7"/>
          </a:solidFill>
          <a:ln w="12700">
            <a:solidFill>
              <a:srgbClr val="DDDDDD"/>
            </a:solidFill>
            <a:prstDash val="solid"/>
          </a:ln>
        </p:spPr>
        <p:txBody>
          <a:bodyPr/>
          <a:lstStyle/>
          <a:p>
            <a:endParaRPr lang="en-US"/>
          </a:p>
        </p:txBody>
      </p:sp>
      <p:sp>
        <p:nvSpPr>
          <p:cNvPr id="40" name="Text 38"/>
          <p:cNvSpPr/>
          <p:nvPr/>
        </p:nvSpPr>
        <p:spPr>
          <a:xfrm>
            <a:off x="7772400" y="2670048"/>
            <a:ext cx="822960" cy="429768"/>
          </a:xfrm>
          <a:prstGeom prst="rect">
            <a:avLst/>
          </a:prstGeom>
          <a:noFill/>
          <a:ln/>
        </p:spPr>
        <p:txBody>
          <a:bodyPr wrap="square" rtlCol="0" anchor="ctr"/>
          <a:lstStyle/>
          <a:p>
            <a:pPr marL="0" indent="0" algn="ctr">
              <a:buNone/>
            </a:pPr>
            <a:r>
              <a:rPr lang="en-US" sz="1200" dirty="0">
                <a:solidFill>
                  <a:srgbClr val="1B4F72"/>
                </a:solidFill>
                <a:latin typeface="Calibri" pitchFamily="34" charset="0"/>
                <a:ea typeface="Calibri" pitchFamily="34" charset="-122"/>
                <a:cs typeface="Calibri" pitchFamily="34" charset="-120"/>
              </a:rPr>
              <a:t>0.9933</a:t>
            </a:r>
            <a:endParaRPr lang="en-US" sz="1200" dirty="0"/>
          </a:p>
        </p:txBody>
      </p:sp>
      <p:sp>
        <p:nvSpPr>
          <p:cNvPr id="41" name="Shape 39"/>
          <p:cNvSpPr/>
          <p:nvPr/>
        </p:nvSpPr>
        <p:spPr>
          <a:xfrm>
            <a:off x="5852160" y="3145536"/>
            <a:ext cx="1005840" cy="429768"/>
          </a:xfrm>
          <a:prstGeom prst="rect">
            <a:avLst/>
          </a:prstGeom>
          <a:solidFill>
            <a:srgbClr val="F7F7F7"/>
          </a:solidFill>
          <a:ln w="12700">
            <a:solidFill>
              <a:srgbClr val="DDDDDD"/>
            </a:solidFill>
            <a:prstDash val="solid"/>
          </a:ln>
        </p:spPr>
        <p:txBody>
          <a:bodyPr/>
          <a:lstStyle/>
          <a:p>
            <a:endParaRPr lang="en-US"/>
          </a:p>
        </p:txBody>
      </p:sp>
      <p:sp>
        <p:nvSpPr>
          <p:cNvPr id="42" name="Text 40"/>
          <p:cNvSpPr/>
          <p:nvPr/>
        </p:nvSpPr>
        <p:spPr>
          <a:xfrm>
            <a:off x="5852160" y="3145536"/>
            <a:ext cx="1005840" cy="429768"/>
          </a:xfrm>
          <a:prstGeom prst="rect">
            <a:avLst/>
          </a:prstGeom>
          <a:noFill/>
          <a:ln/>
        </p:spPr>
        <p:txBody>
          <a:bodyPr wrap="square"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AUC</a:t>
            </a:r>
            <a:endParaRPr lang="en-US" sz="1200" dirty="0"/>
          </a:p>
        </p:txBody>
      </p:sp>
      <p:sp>
        <p:nvSpPr>
          <p:cNvPr id="43" name="Shape 41"/>
          <p:cNvSpPr/>
          <p:nvPr/>
        </p:nvSpPr>
        <p:spPr>
          <a:xfrm>
            <a:off x="6903720" y="3145536"/>
            <a:ext cx="822960" cy="429768"/>
          </a:xfrm>
          <a:prstGeom prst="rect">
            <a:avLst/>
          </a:prstGeom>
          <a:solidFill>
            <a:srgbClr val="F7F7F7"/>
          </a:solidFill>
          <a:ln w="12700">
            <a:solidFill>
              <a:srgbClr val="DDDDDD"/>
            </a:solidFill>
            <a:prstDash val="solid"/>
          </a:ln>
        </p:spPr>
        <p:txBody>
          <a:bodyPr/>
          <a:lstStyle/>
          <a:p>
            <a:endParaRPr lang="en-US"/>
          </a:p>
        </p:txBody>
      </p:sp>
      <p:sp>
        <p:nvSpPr>
          <p:cNvPr id="44" name="Text 42"/>
          <p:cNvSpPr/>
          <p:nvPr/>
        </p:nvSpPr>
        <p:spPr>
          <a:xfrm>
            <a:off x="6903720" y="3145536"/>
            <a:ext cx="822960" cy="42976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0.9983</a:t>
            </a:r>
            <a:endParaRPr lang="en-US" sz="1200" dirty="0"/>
          </a:p>
        </p:txBody>
      </p:sp>
      <p:sp>
        <p:nvSpPr>
          <p:cNvPr id="45" name="Shape 43"/>
          <p:cNvSpPr/>
          <p:nvPr/>
        </p:nvSpPr>
        <p:spPr>
          <a:xfrm>
            <a:off x="7772400" y="3145536"/>
            <a:ext cx="822960" cy="429768"/>
          </a:xfrm>
          <a:prstGeom prst="rect">
            <a:avLst/>
          </a:prstGeom>
          <a:solidFill>
            <a:srgbClr val="F7F7F7"/>
          </a:solidFill>
          <a:ln w="12700">
            <a:solidFill>
              <a:srgbClr val="DDDDDD"/>
            </a:solidFill>
            <a:prstDash val="solid"/>
          </a:ln>
        </p:spPr>
        <p:txBody>
          <a:bodyPr/>
          <a:lstStyle/>
          <a:p>
            <a:endParaRPr lang="en-US"/>
          </a:p>
        </p:txBody>
      </p:sp>
      <p:sp>
        <p:nvSpPr>
          <p:cNvPr id="46" name="Text 44"/>
          <p:cNvSpPr/>
          <p:nvPr/>
        </p:nvSpPr>
        <p:spPr>
          <a:xfrm>
            <a:off x="7772400" y="3145536"/>
            <a:ext cx="822960" cy="429768"/>
          </a:xfrm>
          <a:prstGeom prst="rect">
            <a:avLst/>
          </a:prstGeom>
          <a:noFill/>
          <a:ln/>
        </p:spPr>
        <p:txBody>
          <a:bodyPr wrap="square" rtlCol="0" anchor="ctr"/>
          <a:lstStyle/>
          <a:p>
            <a:pPr marL="0" indent="0" algn="ctr">
              <a:buNone/>
            </a:pPr>
            <a:r>
              <a:rPr lang="en-US" sz="1200" dirty="0">
                <a:solidFill>
                  <a:srgbClr val="1B4F72"/>
                </a:solidFill>
                <a:latin typeface="Calibri" pitchFamily="34" charset="0"/>
                <a:ea typeface="Calibri" pitchFamily="34" charset="-122"/>
                <a:cs typeface="Calibri" pitchFamily="34" charset="-120"/>
              </a:rPr>
              <a:t>0.9984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Notebook 3: Isolation Forest Stacking</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Adding an unsupervised anomaly detection layer</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298448"/>
            <a:ext cx="4937760" cy="2331720"/>
          </a:xfrm>
          <a:prstGeom prst="rect">
            <a:avLst/>
          </a:prstGeom>
          <a:solidFill>
            <a:srgbClr val="EEF2F7"/>
          </a:solidFill>
          <a:ln w="12700">
            <a:solidFill>
              <a:srgbClr val="DDDDDD"/>
            </a:solidFill>
            <a:prstDash val="solid"/>
          </a:ln>
        </p:spPr>
        <p:txBody>
          <a:bodyPr/>
          <a:lstStyle/>
          <a:p>
            <a:endParaRPr lang="en-US"/>
          </a:p>
        </p:txBody>
      </p:sp>
      <p:sp>
        <p:nvSpPr>
          <p:cNvPr id="7" name="Text 5"/>
          <p:cNvSpPr/>
          <p:nvPr/>
        </p:nvSpPr>
        <p:spPr>
          <a:xfrm>
            <a:off x="685800" y="1389888"/>
            <a:ext cx="466344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Why I added Isolation Forest</a:t>
            </a:r>
            <a:endParaRPr lang="en-US" sz="1300" dirty="0"/>
          </a:p>
        </p:txBody>
      </p:sp>
      <p:sp>
        <p:nvSpPr>
          <p:cNvPr id="8" name="Text 6"/>
          <p:cNvSpPr/>
          <p:nvPr/>
        </p:nvSpPr>
        <p:spPr>
          <a:xfrm>
            <a:off x="685800" y="1755648"/>
            <a:ext cx="4663440" cy="1719072"/>
          </a:xfrm>
          <a:prstGeom prst="rect">
            <a:avLst/>
          </a:prstGeom>
          <a:noFill/>
          <a:ln/>
        </p:spPr>
        <p:txBody>
          <a:bodyPr wrap="square" rtlCol="0" anchor="ctr"/>
          <a:lstStyle/>
          <a:p>
            <a:pPr>
              <a:spcAft>
                <a:spcPts val="600"/>
              </a:spcAft>
            </a:pPr>
            <a:r>
              <a:rPr lang="en-US" sz="1150" dirty="0" err="1">
                <a:solidFill>
                  <a:srgbClr val="444444"/>
                </a:solidFill>
                <a:latin typeface="Calibri" pitchFamily="34" charset="0"/>
                <a:ea typeface="Calibri" pitchFamily="34" charset="-122"/>
                <a:cs typeface="Calibri" pitchFamily="34" charset="-120"/>
              </a:rPr>
              <a:t>XGBoost</a:t>
            </a:r>
            <a:r>
              <a:rPr lang="en-US" sz="1150" dirty="0">
                <a:solidFill>
                  <a:srgbClr val="444444"/>
                </a:solidFill>
                <a:latin typeface="Calibri" pitchFamily="34" charset="0"/>
                <a:ea typeface="Calibri" pitchFamily="34" charset="-122"/>
                <a:cs typeface="Calibri" pitchFamily="34" charset="-120"/>
              </a:rPr>
              <a:t> is supervised. It can only catch fraud patterns it saw in training data. If a completely new type of scam appears after the model was trained, XGBoost might miss it. Isolation Forest is unsupervised, meaning it needs no fraud labels at all. It works by randomly splitting features and measuring how quickly each transaction gets isolated from the rest. Anomalous transactions are rare and different so they get isolated much faster.</a:t>
            </a:r>
            <a:endParaRPr lang="en-US" sz="1150" dirty="0"/>
          </a:p>
          <a:p>
            <a:pPr marL="0" indent="0">
              <a:spcAft>
                <a:spcPts val="600"/>
              </a:spcAft>
              <a:buNone/>
            </a:pPr>
            <a:r>
              <a:rPr lang="en-US" sz="1150" dirty="0">
                <a:solidFill>
                  <a:srgbClr val="444444"/>
                </a:solidFill>
                <a:latin typeface="Calibri" pitchFamily="34" charset="0"/>
                <a:ea typeface="Calibri" pitchFamily="34" charset="-122"/>
                <a:cs typeface="Calibri" pitchFamily="34" charset="-120"/>
              </a:rPr>
              <a:t>I use the continuous anomaly score as an extra input feature to XGBoost rather than using Isolation Forest as a separate standalone detector. This way XGBoost gets an anomaly signal alongside the CBI features.</a:t>
            </a:r>
            <a:endParaRPr lang="en-US" sz="1150" dirty="0"/>
          </a:p>
        </p:txBody>
      </p:sp>
      <p:sp>
        <p:nvSpPr>
          <p:cNvPr id="9" name="Text 7"/>
          <p:cNvSpPr/>
          <p:nvPr/>
        </p:nvSpPr>
        <p:spPr>
          <a:xfrm>
            <a:off x="5715000" y="1298448"/>
            <a:ext cx="301752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Full comparison</a:t>
            </a:r>
            <a:endParaRPr lang="en-US" sz="1300" dirty="0"/>
          </a:p>
        </p:txBody>
      </p:sp>
      <p:sp>
        <p:nvSpPr>
          <p:cNvPr id="10" name="Shape 8"/>
          <p:cNvSpPr/>
          <p:nvPr/>
        </p:nvSpPr>
        <p:spPr>
          <a:xfrm>
            <a:off x="5715000" y="1719072"/>
            <a:ext cx="914400" cy="429768"/>
          </a:xfrm>
          <a:prstGeom prst="rect">
            <a:avLst/>
          </a:prstGeom>
          <a:solidFill>
            <a:srgbClr val="0D1B2A"/>
          </a:solidFill>
          <a:ln w="12700">
            <a:solidFill>
              <a:srgbClr val="DDDDDD"/>
            </a:solidFill>
            <a:prstDash val="solid"/>
          </a:ln>
        </p:spPr>
        <p:txBody>
          <a:bodyPr/>
          <a:lstStyle/>
          <a:p>
            <a:endParaRPr lang="en-US"/>
          </a:p>
        </p:txBody>
      </p:sp>
      <p:sp>
        <p:nvSpPr>
          <p:cNvPr id="11" name="Text 9"/>
          <p:cNvSpPr/>
          <p:nvPr/>
        </p:nvSpPr>
        <p:spPr>
          <a:xfrm>
            <a:off x="5715000" y="1719072"/>
            <a:ext cx="914400" cy="429768"/>
          </a:xfrm>
          <a:prstGeom prst="rect">
            <a:avLst/>
          </a:prstGeom>
          <a:noFill/>
          <a:ln/>
        </p:spPr>
        <p:txBody>
          <a:bodyPr wrap="square" rtlCol="0" anchor="ctr"/>
          <a:lstStyle/>
          <a:p>
            <a:pPr marL="0" indent="0" algn="ctr">
              <a:buNone/>
            </a:pPr>
            <a:endParaRPr lang="en-US" sz="900" dirty="0"/>
          </a:p>
        </p:txBody>
      </p:sp>
      <p:sp>
        <p:nvSpPr>
          <p:cNvPr id="12" name="Shape 10"/>
          <p:cNvSpPr/>
          <p:nvPr/>
        </p:nvSpPr>
        <p:spPr>
          <a:xfrm>
            <a:off x="6656832" y="1719072"/>
            <a:ext cx="658368" cy="429768"/>
          </a:xfrm>
          <a:prstGeom prst="rect">
            <a:avLst/>
          </a:prstGeom>
          <a:solidFill>
            <a:srgbClr val="0D1B2A"/>
          </a:solidFill>
          <a:ln w="12700">
            <a:solidFill>
              <a:srgbClr val="DDDDDD"/>
            </a:solidFill>
            <a:prstDash val="solid"/>
          </a:ln>
        </p:spPr>
        <p:txBody>
          <a:bodyPr/>
          <a:lstStyle/>
          <a:p>
            <a:endParaRPr lang="en-US"/>
          </a:p>
        </p:txBody>
      </p:sp>
      <p:sp>
        <p:nvSpPr>
          <p:cNvPr id="13" name="Text 11"/>
          <p:cNvSpPr/>
          <p:nvPr/>
        </p:nvSpPr>
        <p:spPr>
          <a:xfrm>
            <a:off x="6656832" y="1719072"/>
            <a:ext cx="658368" cy="4297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Base</a:t>
            </a:r>
            <a:endParaRPr lang="en-US" sz="900" dirty="0"/>
          </a:p>
        </p:txBody>
      </p:sp>
      <p:sp>
        <p:nvSpPr>
          <p:cNvPr id="14" name="Shape 12"/>
          <p:cNvSpPr/>
          <p:nvPr/>
        </p:nvSpPr>
        <p:spPr>
          <a:xfrm>
            <a:off x="7333488" y="1719072"/>
            <a:ext cx="658368" cy="429768"/>
          </a:xfrm>
          <a:prstGeom prst="rect">
            <a:avLst/>
          </a:prstGeom>
          <a:solidFill>
            <a:srgbClr val="0D1B2A"/>
          </a:solidFill>
          <a:ln w="12700">
            <a:solidFill>
              <a:srgbClr val="DDDDDD"/>
            </a:solidFill>
            <a:prstDash val="solid"/>
          </a:ln>
        </p:spPr>
        <p:txBody>
          <a:bodyPr/>
          <a:lstStyle/>
          <a:p>
            <a:endParaRPr lang="en-US"/>
          </a:p>
        </p:txBody>
      </p:sp>
      <p:sp>
        <p:nvSpPr>
          <p:cNvPr id="15" name="Text 13"/>
          <p:cNvSpPr/>
          <p:nvPr/>
        </p:nvSpPr>
        <p:spPr>
          <a:xfrm>
            <a:off x="7333488" y="1719072"/>
            <a:ext cx="658368" cy="4297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Tuned</a:t>
            </a:r>
            <a:endParaRPr lang="en-US" sz="900" dirty="0"/>
          </a:p>
        </p:txBody>
      </p:sp>
      <p:sp>
        <p:nvSpPr>
          <p:cNvPr id="16" name="Shape 14"/>
          <p:cNvSpPr/>
          <p:nvPr/>
        </p:nvSpPr>
        <p:spPr>
          <a:xfrm>
            <a:off x="8019288" y="1719072"/>
            <a:ext cx="731520" cy="429768"/>
          </a:xfrm>
          <a:prstGeom prst="rect">
            <a:avLst/>
          </a:prstGeom>
          <a:solidFill>
            <a:srgbClr val="0D1B2A"/>
          </a:solidFill>
          <a:ln w="12700">
            <a:solidFill>
              <a:srgbClr val="DDDDDD"/>
            </a:solidFill>
            <a:prstDash val="solid"/>
          </a:ln>
        </p:spPr>
        <p:txBody>
          <a:bodyPr/>
          <a:lstStyle/>
          <a:p>
            <a:endParaRPr lang="en-US"/>
          </a:p>
        </p:txBody>
      </p:sp>
      <p:sp>
        <p:nvSpPr>
          <p:cNvPr id="17" name="Text 15"/>
          <p:cNvSpPr/>
          <p:nvPr/>
        </p:nvSpPr>
        <p:spPr>
          <a:xfrm>
            <a:off x="8019288" y="1719072"/>
            <a:ext cx="731520" cy="4297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Tuned+IF</a:t>
            </a:r>
            <a:endParaRPr lang="en-US" sz="900" dirty="0"/>
          </a:p>
        </p:txBody>
      </p:sp>
      <p:sp>
        <p:nvSpPr>
          <p:cNvPr id="18" name="Shape 16"/>
          <p:cNvSpPr/>
          <p:nvPr/>
        </p:nvSpPr>
        <p:spPr>
          <a:xfrm>
            <a:off x="5715000" y="2194560"/>
            <a:ext cx="914400" cy="429768"/>
          </a:xfrm>
          <a:prstGeom prst="rect">
            <a:avLst/>
          </a:prstGeom>
          <a:solidFill>
            <a:srgbClr val="F7F7F7"/>
          </a:solidFill>
          <a:ln w="12700">
            <a:solidFill>
              <a:srgbClr val="DDDDDD"/>
            </a:solidFill>
            <a:prstDash val="solid"/>
          </a:ln>
        </p:spPr>
        <p:txBody>
          <a:bodyPr/>
          <a:lstStyle/>
          <a:p>
            <a:endParaRPr lang="en-US"/>
          </a:p>
        </p:txBody>
      </p:sp>
      <p:sp>
        <p:nvSpPr>
          <p:cNvPr id="19" name="Text 17"/>
          <p:cNvSpPr/>
          <p:nvPr/>
        </p:nvSpPr>
        <p:spPr>
          <a:xfrm>
            <a:off x="5715000" y="2194560"/>
            <a:ext cx="914400" cy="429768"/>
          </a:xfrm>
          <a:prstGeom prst="rect">
            <a:avLst/>
          </a:prstGeom>
          <a:noFill/>
          <a:ln/>
        </p:spPr>
        <p:txBody>
          <a:bodyPr wrap="square"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Precision</a:t>
            </a:r>
            <a:endParaRPr lang="en-US" sz="1100" dirty="0"/>
          </a:p>
        </p:txBody>
      </p:sp>
      <p:sp>
        <p:nvSpPr>
          <p:cNvPr id="20" name="Shape 18"/>
          <p:cNvSpPr/>
          <p:nvPr/>
        </p:nvSpPr>
        <p:spPr>
          <a:xfrm>
            <a:off x="6656832" y="2194560"/>
            <a:ext cx="658368" cy="429768"/>
          </a:xfrm>
          <a:prstGeom prst="rect">
            <a:avLst/>
          </a:prstGeom>
          <a:solidFill>
            <a:srgbClr val="F7F7F7"/>
          </a:solidFill>
          <a:ln w="12700">
            <a:solidFill>
              <a:srgbClr val="DDDDDD"/>
            </a:solidFill>
            <a:prstDash val="solid"/>
          </a:ln>
        </p:spPr>
        <p:txBody>
          <a:bodyPr/>
          <a:lstStyle/>
          <a:p>
            <a:endParaRPr lang="en-US"/>
          </a:p>
        </p:txBody>
      </p:sp>
      <p:sp>
        <p:nvSpPr>
          <p:cNvPr id="21" name="Text 19"/>
          <p:cNvSpPr/>
          <p:nvPr/>
        </p:nvSpPr>
        <p:spPr>
          <a:xfrm>
            <a:off x="6656832" y="2194560"/>
            <a:ext cx="658368" cy="429768"/>
          </a:xfrm>
          <a:prstGeom prst="rect">
            <a:avLst/>
          </a:prstGeom>
          <a:noFill/>
          <a:ln/>
        </p:spPr>
        <p:txBody>
          <a:bodyPr wrap="square"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0.46</a:t>
            </a:r>
            <a:endParaRPr lang="en-US" sz="1100" dirty="0"/>
          </a:p>
        </p:txBody>
      </p:sp>
      <p:sp>
        <p:nvSpPr>
          <p:cNvPr id="22" name="Shape 20"/>
          <p:cNvSpPr/>
          <p:nvPr/>
        </p:nvSpPr>
        <p:spPr>
          <a:xfrm>
            <a:off x="7333488" y="2194560"/>
            <a:ext cx="658368" cy="429768"/>
          </a:xfrm>
          <a:prstGeom prst="rect">
            <a:avLst/>
          </a:prstGeom>
          <a:solidFill>
            <a:srgbClr val="F7F7F7"/>
          </a:solidFill>
          <a:ln w="12700">
            <a:solidFill>
              <a:srgbClr val="DDDDDD"/>
            </a:solidFill>
            <a:prstDash val="solid"/>
          </a:ln>
        </p:spPr>
        <p:txBody>
          <a:bodyPr/>
          <a:lstStyle/>
          <a:p>
            <a:endParaRPr lang="en-US"/>
          </a:p>
        </p:txBody>
      </p:sp>
      <p:sp>
        <p:nvSpPr>
          <p:cNvPr id="23" name="Text 21"/>
          <p:cNvSpPr/>
          <p:nvPr/>
        </p:nvSpPr>
        <p:spPr>
          <a:xfrm>
            <a:off x="7333488" y="2194560"/>
            <a:ext cx="658368" cy="429768"/>
          </a:xfrm>
          <a:prstGeom prst="rect">
            <a:avLst/>
          </a:prstGeom>
          <a:noFill/>
          <a:ln/>
        </p:spPr>
        <p:txBody>
          <a:bodyPr wrap="square"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0.49</a:t>
            </a:r>
            <a:endParaRPr lang="en-US" sz="1100" dirty="0"/>
          </a:p>
        </p:txBody>
      </p:sp>
      <p:sp>
        <p:nvSpPr>
          <p:cNvPr id="24" name="Shape 22"/>
          <p:cNvSpPr/>
          <p:nvPr/>
        </p:nvSpPr>
        <p:spPr>
          <a:xfrm>
            <a:off x="8019288" y="2194560"/>
            <a:ext cx="731520" cy="429768"/>
          </a:xfrm>
          <a:prstGeom prst="rect">
            <a:avLst/>
          </a:prstGeom>
          <a:solidFill>
            <a:srgbClr val="F7F7F7"/>
          </a:solidFill>
          <a:ln w="12700">
            <a:solidFill>
              <a:srgbClr val="DDDDDD"/>
            </a:solidFill>
            <a:prstDash val="solid"/>
          </a:ln>
        </p:spPr>
        <p:txBody>
          <a:bodyPr/>
          <a:lstStyle/>
          <a:p>
            <a:endParaRPr lang="en-US"/>
          </a:p>
        </p:txBody>
      </p:sp>
      <p:sp>
        <p:nvSpPr>
          <p:cNvPr id="25" name="Text 23"/>
          <p:cNvSpPr/>
          <p:nvPr/>
        </p:nvSpPr>
        <p:spPr>
          <a:xfrm>
            <a:off x="8019288" y="2194560"/>
            <a:ext cx="731520" cy="429768"/>
          </a:xfrm>
          <a:prstGeom prst="rect">
            <a:avLst/>
          </a:prstGeom>
          <a:noFill/>
          <a:ln/>
        </p:spPr>
        <p:txBody>
          <a:bodyPr wrap="square"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0.49</a:t>
            </a:r>
            <a:endParaRPr lang="en-US" sz="1100" dirty="0"/>
          </a:p>
        </p:txBody>
      </p:sp>
      <p:sp>
        <p:nvSpPr>
          <p:cNvPr id="26" name="Shape 24"/>
          <p:cNvSpPr/>
          <p:nvPr/>
        </p:nvSpPr>
        <p:spPr>
          <a:xfrm>
            <a:off x="5715000" y="2670048"/>
            <a:ext cx="914400" cy="429768"/>
          </a:xfrm>
          <a:prstGeom prst="rect">
            <a:avLst/>
          </a:prstGeom>
          <a:solidFill>
            <a:srgbClr val="EEF2F7"/>
          </a:solidFill>
          <a:ln w="12700">
            <a:solidFill>
              <a:srgbClr val="DDDDDD"/>
            </a:solidFill>
            <a:prstDash val="solid"/>
          </a:ln>
        </p:spPr>
        <p:txBody>
          <a:bodyPr/>
          <a:lstStyle/>
          <a:p>
            <a:endParaRPr lang="en-US"/>
          </a:p>
        </p:txBody>
      </p:sp>
      <p:sp>
        <p:nvSpPr>
          <p:cNvPr id="27" name="Text 25"/>
          <p:cNvSpPr/>
          <p:nvPr/>
        </p:nvSpPr>
        <p:spPr>
          <a:xfrm>
            <a:off x="5715000" y="2670048"/>
            <a:ext cx="914400" cy="429768"/>
          </a:xfrm>
          <a:prstGeom prst="rect">
            <a:avLst/>
          </a:prstGeom>
          <a:noFill/>
          <a:ln/>
        </p:spPr>
        <p:txBody>
          <a:bodyPr wrap="square"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Recall</a:t>
            </a:r>
            <a:endParaRPr lang="en-US" sz="1100" dirty="0"/>
          </a:p>
        </p:txBody>
      </p:sp>
      <p:sp>
        <p:nvSpPr>
          <p:cNvPr id="28" name="Shape 26"/>
          <p:cNvSpPr/>
          <p:nvPr/>
        </p:nvSpPr>
        <p:spPr>
          <a:xfrm>
            <a:off x="6656832" y="2670048"/>
            <a:ext cx="658368" cy="429768"/>
          </a:xfrm>
          <a:prstGeom prst="rect">
            <a:avLst/>
          </a:prstGeom>
          <a:solidFill>
            <a:srgbClr val="EEF2F7"/>
          </a:solidFill>
          <a:ln w="12700">
            <a:solidFill>
              <a:srgbClr val="DDDDDD"/>
            </a:solidFill>
            <a:prstDash val="solid"/>
          </a:ln>
        </p:spPr>
        <p:txBody>
          <a:bodyPr/>
          <a:lstStyle/>
          <a:p>
            <a:endParaRPr lang="en-US"/>
          </a:p>
        </p:txBody>
      </p:sp>
      <p:sp>
        <p:nvSpPr>
          <p:cNvPr id="29" name="Text 27"/>
          <p:cNvSpPr/>
          <p:nvPr/>
        </p:nvSpPr>
        <p:spPr>
          <a:xfrm>
            <a:off x="6656832" y="2670048"/>
            <a:ext cx="658368" cy="429768"/>
          </a:xfrm>
          <a:prstGeom prst="rect">
            <a:avLst/>
          </a:prstGeom>
          <a:noFill/>
          <a:ln/>
        </p:spPr>
        <p:txBody>
          <a:bodyPr wrap="square"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0.9951</a:t>
            </a:r>
            <a:endParaRPr lang="en-US" sz="1100" dirty="0"/>
          </a:p>
        </p:txBody>
      </p:sp>
      <p:sp>
        <p:nvSpPr>
          <p:cNvPr id="30" name="Shape 28"/>
          <p:cNvSpPr/>
          <p:nvPr/>
        </p:nvSpPr>
        <p:spPr>
          <a:xfrm>
            <a:off x="7333488" y="2670048"/>
            <a:ext cx="658368" cy="429768"/>
          </a:xfrm>
          <a:prstGeom prst="rect">
            <a:avLst/>
          </a:prstGeom>
          <a:solidFill>
            <a:srgbClr val="EEF2F7"/>
          </a:solidFill>
          <a:ln w="12700">
            <a:solidFill>
              <a:srgbClr val="DDDDDD"/>
            </a:solidFill>
            <a:prstDash val="solid"/>
          </a:ln>
        </p:spPr>
        <p:txBody>
          <a:bodyPr/>
          <a:lstStyle/>
          <a:p>
            <a:endParaRPr lang="en-US"/>
          </a:p>
        </p:txBody>
      </p:sp>
      <p:sp>
        <p:nvSpPr>
          <p:cNvPr id="31" name="Text 29"/>
          <p:cNvSpPr/>
          <p:nvPr/>
        </p:nvSpPr>
        <p:spPr>
          <a:xfrm>
            <a:off x="7333488" y="2670048"/>
            <a:ext cx="658368" cy="429768"/>
          </a:xfrm>
          <a:prstGeom prst="rect">
            <a:avLst/>
          </a:prstGeom>
          <a:noFill/>
          <a:ln/>
        </p:spPr>
        <p:txBody>
          <a:bodyPr wrap="square"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0.9933</a:t>
            </a:r>
            <a:endParaRPr lang="en-US" sz="1100" dirty="0"/>
          </a:p>
        </p:txBody>
      </p:sp>
      <p:sp>
        <p:nvSpPr>
          <p:cNvPr id="32" name="Shape 30"/>
          <p:cNvSpPr/>
          <p:nvPr/>
        </p:nvSpPr>
        <p:spPr>
          <a:xfrm>
            <a:off x="8019288" y="2670048"/>
            <a:ext cx="731520" cy="429768"/>
          </a:xfrm>
          <a:prstGeom prst="rect">
            <a:avLst/>
          </a:prstGeom>
          <a:solidFill>
            <a:srgbClr val="EEF2F7"/>
          </a:solidFill>
          <a:ln w="12700">
            <a:solidFill>
              <a:srgbClr val="DDDDDD"/>
            </a:solidFill>
            <a:prstDash val="solid"/>
          </a:ln>
        </p:spPr>
        <p:txBody>
          <a:bodyPr/>
          <a:lstStyle/>
          <a:p>
            <a:endParaRPr lang="en-US"/>
          </a:p>
        </p:txBody>
      </p:sp>
      <p:sp>
        <p:nvSpPr>
          <p:cNvPr id="33" name="Text 31"/>
          <p:cNvSpPr/>
          <p:nvPr/>
        </p:nvSpPr>
        <p:spPr>
          <a:xfrm>
            <a:off x="8019288" y="2670048"/>
            <a:ext cx="731520" cy="429768"/>
          </a:xfrm>
          <a:prstGeom prst="rect">
            <a:avLst/>
          </a:prstGeom>
          <a:noFill/>
          <a:ln/>
        </p:spPr>
        <p:txBody>
          <a:bodyPr wrap="square"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0.9909</a:t>
            </a:r>
            <a:endParaRPr lang="en-US" sz="1100" dirty="0"/>
          </a:p>
        </p:txBody>
      </p:sp>
      <p:sp>
        <p:nvSpPr>
          <p:cNvPr id="34" name="Shape 32"/>
          <p:cNvSpPr/>
          <p:nvPr/>
        </p:nvSpPr>
        <p:spPr>
          <a:xfrm>
            <a:off x="5715000" y="3145536"/>
            <a:ext cx="914400" cy="429768"/>
          </a:xfrm>
          <a:prstGeom prst="rect">
            <a:avLst/>
          </a:prstGeom>
          <a:solidFill>
            <a:srgbClr val="F7F7F7"/>
          </a:solidFill>
          <a:ln w="12700">
            <a:solidFill>
              <a:srgbClr val="DDDDDD"/>
            </a:solidFill>
            <a:prstDash val="solid"/>
          </a:ln>
        </p:spPr>
        <p:txBody>
          <a:bodyPr/>
          <a:lstStyle/>
          <a:p>
            <a:endParaRPr lang="en-US"/>
          </a:p>
        </p:txBody>
      </p:sp>
      <p:sp>
        <p:nvSpPr>
          <p:cNvPr id="35" name="Text 33"/>
          <p:cNvSpPr/>
          <p:nvPr/>
        </p:nvSpPr>
        <p:spPr>
          <a:xfrm>
            <a:off x="5715000" y="3145536"/>
            <a:ext cx="914400" cy="429768"/>
          </a:xfrm>
          <a:prstGeom prst="rect">
            <a:avLst/>
          </a:prstGeom>
          <a:noFill/>
          <a:ln/>
        </p:spPr>
        <p:txBody>
          <a:bodyPr wrap="square"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AUC</a:t>
            </a:r>
            <a:endParaRPr lang="en-US" sz="1100" dirty="0"/>
          </a:p>
        </p:txBody>
      </p:sp>
      <p:sp>
        <p:nvSpPr>
          <p:cNvPr id="36" name="Shape 34"/>
          <p:cNvSpPr/>
          <p:nvPr/>
        </p:nvSpPr>
        <p:spPr>
          <a:xfrm>
            <a:off x="6656832" y="3145536"/>
            <a:ext cx="658368" cy="429768"/>
          </a:xfrm>
          <a:prstGeom prst="rect">
            <a:avLst/>
          </a:prstGeom>
          <a:solidFill>
            <a:srgbClr val="F7F7F7"/>
          </a:solidFill>
          <a:ln w="12700">
            <a:solidFill>
              <a:srgbClr val="DDDDDD"/>
            </a:solidFill>
            <a:prstDash val="solid"/>
          </a:ln>
        </p:spPr>
        <p:txBody>
          <a:bodyPr/>
          <a:lstStyle/>
          <a:p>
            <a:endParaRPr lang="en-US"/>
          </a:p>
        </p:txBody>
      </p:sp>
      <p:sp>
        <p:nvSpPr>
          <p:cNvPr id="37" name="Text 35"/>
          <p:cNvSpPr/>
          <p:nvPr/>
        </p:nvSpPr>
        <p:spPr>
          <a:xfrm>
            <a:off x="6656832" y="3145536"/>
            <a:ext cx="658368" cy="429768"/>
          </a:xfrm>
          <a:prstGeom prst="rect">
            <a:avLst/>
          </a:prstGeom>
          <a:noFill/>
          <a:ln/>
        </p:spPr>
        <p:txBody>
          <a:bodyPr wrap="square"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0.9983</a:t>
            </a:r>
            <a:endParaRPr lang="en-US" sz="1100" dirty="0"/>
          </a:p>
        </p:txBody>
      </p:sp>
      <p:sp>
        <p:nvSpPr>
          <p:cNvPr id="38" name="Shape 36"/>
          <p:cNvSpPr/>
          <p:nvPr/>
        </p:nvSpPr>
        <p:spPr>
          <a:xfrm>
            <a:off x="7333488" y="3145536"/>
            <a:ext cx="658368" cy="429768"/>
          </a:xfrm>
          <a:prstGeom prst="rect">
            <a:avLst/>
          </a:prstGeom>
          <a:solidFill>
            <a:srgbClr val="F7F7F7"/>
          </a:solidFill>
          <a:ln w="12700">
            <a:solidFill>
              <a:srgbClr val="DDDDDD"/>
            </a:solidFill>
            <a:prstDash val="solid"/>
          </a:ln>
        </p:spPr>
        <p:txBody>
          <a:bodyPr/>
          <a:lstStyle/>
          <a:p>
            <a:endParaRPr lang="en-US"/>
          </a:p>
        </p:txBody>
      </p:sp>
      <p:sp>
        <p:nvSpPr>
          <p:cNvPr id="39" name="Text 37"/>
          <p:cNvSpPr/>
          <p:nvPr/>
        </p:nvSpPr>
        <p:spPr>
          <a:xfrm>
            <a:off x="7333488" y="3145536"/>
            <a:ext cx="658368" cy="429768"/>
          </a:xfrm>
          <a:prstGeom prst="rect">
            <a:avLst/>
          </a:prstGeom>
          <a:noFill/>
          <a:ln/>
        </p:spPr>
        <p:txBody>
          <a:bodyPr wrap="square" rtlCol="0" anchor="ctr"/>
          <a:lstStyle/>
          <a:p>
            <a:pPr marL="0" indent="0" algn="ctr">
              <a:buNone/>
            </a:pPr>
            <a:r>
              <a:rPr lang="en-US" sz="1100" dirty="0">
                <a:solidFill>
                  <a:srgbClr val="111111"/>
                </a:solidFill>
                <a:latin typeface="Calibri" pitchFamily="34" charset="0"/>
                <a:ea typeface="Calibri" pitchFamily="34" charset="-122"/>
                <a:cs typeface="Calibri" pitchFamily="34" charset="-120"/>
              </a:rPr>
              <a:t>0.9984</a:t>
            </a:r>
            <a:endParaRPr lang="en-US" sz="1100" dirty="0"/>
          </a:p>
        </p:txBody>
      </p:sp>
      <p:sp>
        <p:nvSpPr>
          <p:cNvPr id="40" name="Shape 38"/>
          <p:cNvSpPr/>
          <p:nvPr/>
        </p:nvSpPr>
        <p:spPr>
          <a:xfrm>
            <a:off x="8019288" y="3145536"/>
            <a:ext cx="731520" cy="429768"/>
          </a:xfrm>
          <a:prstGeom prst="rect">
            <a:avLst/>
          </a:prstGeom>
          <a:solidFill>
            <a:srgbClr val="F7F7F7"/>
          </a:solidFill>
          <a:ln w="12700">
            <a:solidFill>
              <a:srgbClr val="DDDDDD"/>
            </a:solidFill>
            <a:prstDash val="solid"/>
          </a:ln>
        </p:spPr>
        <p:txBody>
          <a:bodyPr/>
          <a:lstStyle/>
          <a:p>
            <a:endParaRPr lang="en-US"/>
          </a:p>
        </p:txBody>
      </p:sp>
      <p:sp>
        <p:nvSpPr>
          <p:cNvPr id="41" name="Text 39"/>
          <p:cNvSpPr/>
          <p:nvPr/>
        </p:nvSpPr>
        <p:spPr>
          <a:xfrm>
            <a:off x="8019288" y="3145536"/>
            <a:ext cx="731520" cy="429768"/>
          </a:xfrm>
          <a:prstGeom prst="rect">
            <a:avLst/>
          </a:prstGeom>
          <a:noFill/>
          <a:ln/>
        </p:spPr>
        <p:txBody>
          <a:bodyPr wrap="square"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0.9985</a:t>
            </a:r>
            <a:endParaRPr lang="en-US" sz="1100" dirty="0"/>
          </a:p>
        </p:txBody>
      </p:sp>
      <p:sp>
        <p:nvSpPr>
          <p:cNvPr id="42" name="Shape 40"/>
          <p:cNvSpPr/>
          <p:nvPr/>
        </p:nvSpPr>
        <p:spPr>
          <a:xfrm>
            <a:off x="548640" y="3822192"/>
            <a:ext cx="8046720" cy="548640"/>
          </a:xfrm>
          <a:prstGeom prst="rect">
            <a:avLst/>
          </a:prstGeom>
          <a:solidFill>
            <a:srgbClr val="F7F7F7"/>
          </a:solidFill>
          <a:ln w="12700">
            <a:solidFill>
              <a:srgbClr val="DDDDDD"/>
            </a:solidFill>
            <a:prstDash val="solid"/>
          </a:ln>
        </p:spPr>
        <p:txBody>
          <a:bodyPr/>
          <a:lstStyle/>
          <a:p>
            <a:endParaRPr lang="en-US"/>
          </a:p>
        </p:txBody>
      </p:sp>
      <p:sp>
        <p:nvSpPr>
          <p:cNvPr id="43" name="Text 41"/>
          <p:cNvSpPr/>
          <p:nvPr/>
        </p:nvSpPr>
        <p:spPr>
          <a:xfrm>
            <a:off x="685800" y="3913632"/>
            <a:ext cx="7772400" cy="347472"/>
          </a:xfrm>
          <a:prstGeom prst="rect">
            <a:avLst/>
          </a:prstGeom>
          <a:noFill/>
          <a:ln/>
        </p:spPr>
        <p:txBody>
          <a:bodyPr wrap="square" rtlCol="0" anchor="ctr"/>
          <a:lstStyle/>
          <a:p>
            <a:pPr marL="0" indent="0" algn="ctr">
              <a:buNone/>
            </a:pPr>
            <a:r>
              <a:rPr lang="en-US" sz="1200" b="1" dirty="0">
                <a:solidFill>
                  <a:srgbClr val="1B4F72"/>
                </a:solidFill>
                <a:latin typeface="Calibri" pitchFamily="34" charset="0"/>
                <a:ea typeface="Calibri" pitchFamily="34" charset="-122"/>
                <a:cs typeface="Calibri" pitchFamily="34" charset="-120"/>
              </a:rPr>
              <a:t>AUC of 0.9985 beats the published baseline of 0.979 from Ileberi et al. in the literature review.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Notebook 4: SHAP Explainability</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Why the model flagged each transaction</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298448"/>
            <a:ext cx="8046720" cy="804672"/>
          </a:xfrm>
          <a:prstGeom prst="rect">
            <a:avLst/>
          </a:prstGeom>
          <a:solidFill>
            <a:srgbClr val="EEF2F7"/>
          </a:solidFill>
          <a:ln w="12700">
            <a:solidFill>
              <a:srgbClr val="DDDDDD"/>
            </a:solidFill>
            <a:prstDash val="solid"/>
          </a:ln>
        </p:spPr>
        <p:txBody>
          <a:bodyPr/>
          <a:lstStyle/>
          <a:p>
            <a:endParaRPr lang="en-US"/>
          </a:p>
        </p:txBody>
      </p:sp>
      <p:sp>
        <p:nvSpPr>
          <p:cNvPr id="7" name="Text 5"/>
          <p:cNvSpPr/>
          <p:nvPr/>
        </p:nvSpPr>
        <p:spPr>
          <a:xfrm>
            <a:off x="685800" y="1371600"/>
            <a:ext cx="2286000" cy="292608"/>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Why explainability is needed:</a:t>
            </a:r>
            <a:endParaRPr lang="en-US" sz="1200" dirty="0"/>
          </a:p>
        </p:txBody>
      </p:sp>
      <p:sp>
        <p:nvSpPr>
          <p:cNvPr id="8" name="Text 6"/>
          <p:cNvSpPr/>
          <p:nvPr/>
        </p:nvSpPr>
        <p:spPr>
          <a:xfrm>
            <a:off x="3017520" y="1371600"/>
            <a:ext cx="5394960" cy="640080"/>
          </a:xfrm>
          <a:prstGeom prst="rect">
            <a:avLst/>
          </a:prstGeom>
          <a:noFill/>
          <a:ln/>
        </p:spPr>
        <p:txBody>
          <a:bodyPr wrap="square" rtlCol="0" anchor="ctr"/>
          <a:lstStyle/>
          <a:p>
            <a:pPr marL="0" indent="0">
              <a:buNone/>
            </a:pPr>
            <a:r>
              <a:rPr lang="en-US" sz="1150" dirty="0">
                <a:solidFill>
                  <a:srgbClr val="444444"/>
                </a:solidFill>
                <a:latin typeface="Calibri" pitchFamily="34" charset="0"/>
                <a:ea typeface="Calibri" pitchFamily="34" charset="-122"/>
                <a:cs typeface="Calibri" pitchFamily="34" charset="-120"/>
              </a:rPr>
              <a:t>GDPR Article 22 gives customers the right to an explanation when automated systems make decisions that significantly affect them. Blocking a bank transaction qualifies. Without SHAP the model is a black box and cannot legally be deployed in Irish banking.</a:t>
            </a:r>
            <a:endParaRPr lang="en-US" sz="1150" dirty="0"/>
          </a:p>
        </p:txBody>
      </p:sp>
      <p:sp>
        <p:nvSpPr>
          <p:cNvPr id="9" name="Shape 7"/>
          <p:cNvSpPr/>
          <p:nvPr/>
        </p:nvSpPr>
        <p:spPr>
          <a:xfrm>
            <a:off x="548640" y="2286000"/>
            <a:ext cx="3931920" cy="841248"/>
          </a:xfrm>
          <a:prstGeom prst="rect">
            <a:avLst/>
          </a:prstGeom>
          <a:solidFill>
            <a:srgbClr val="EEF2F7"/>
          </a:solidFill>
          <a:ln w="12700">
            <a:solidFill>
              <a:srgbClr val="DDDDDD"/>
            </a:solidFill>
            <a:prstDash val="solid"/>
          </a:ln>
        </p:spPr>
        <p:txBody>
          <a:bodyPr/>
          <a:lstStyle/>
          <a:p>
            <a:endParaRPr lang="en-US"/>
          </a:p>
        </p:txBody>
      </p:sp>
      <p:sp>
        <p:nvSpPr>
          <p:cNvPr id="10" name="Text 8"/>
          <p:cNvSpPr/>
          <p:nvPr/>
        </p:nvSpPr>
        <p:spPr>
          <a:xfrm>
            <a:off x="685800" y="2377440"/>
            <a:ext cx="3657600" cy="274320"/>
          </a:xfrm>
          <a:prstGeom prst="rect">
            <a:avLst/>
          </a:prstGeom>
          <a:noFill/>
          <a:ln/>
        </p:spPr>
        <p:txBody>
          <a:bodyPr wrap="square" rtlCol="0" anchor="ctr"/>
          <a:lstStyle/>
          <a:p>
            <a:pPr marL="0" indent="0">
              <a:buNone/>
            </a:pPr>
            <a:r>
              <a:rPr lang="en-US" sz="1250" b="1" dirty="0">
                <a:solidFill>
                  <a:srgbClr val="1B4F72"/>
                </a:solidFill>
                <a:latin typeface="Calibri" pitchFamily="34" charset="0"/>
                <a:ea typeface="Calibri" pitchFamily="34" charset="-122"/>
                <a:cs typeface="Calibri" pitchFamily="34" charset="-120"/>
              </a:rPr>
              <a:t>Global bar chart</a:t>
            </a:r>
            <a:endParaRPr lang="en-US" sz="1250" dirty="0"/>
          </a:p>
        </p:txBody>
      </p:sp>
      <p:sp>
        <p:nvSpPr>
          <p:cNvPr id="11" name="Text 9"/>
          <p:cNvSpPr/>
          <p:nvPr/>
        </p:nvSpPr>
        <p:spPr>
          <a:xfrm>
            <a:off x="685800" y="2697480"/>
            <a:ext cx="3657600" cy="34747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Which features the model relies on most across all predictions overall.</a:t>
            </a:r>
            <a:endParaRPr lang="en-US" sz="1100" dirty="0"/>
          </a:p>
        </p:txBody>
      </p:sp>
      <p:sp>
        <p:nvSpPr>
          <p:cNvPr id="12" name="Shape 10"/>
          <p:cNvSpPr/>
          <p:nvPr/>
        </p:nvSpPr>
        <p:spPr>
          <a:xfrm>
            <a:off x="4709160" y="2286000"/>
            <a:ext cx="3931920" cy="841248"/>
          </a:xfrm>
          <a:prstGeom prst="rect">
            <a:avLst/>
          </a:prstGeom>
          <a:solidFill>
            <a:srgbClr val="F7F7F7"/>
          </a:solidFill>
          <a:ln w="12700">
            <a:solidFill>
              <a:srgbClr val="DDDDDD"/>
            </a:solidFill>
            <a:prstDash val="solid"/>
          </a:ln>
        </p:spPr>
        <p:txBody>
          <a:bodyPr/>
          <a:lstStyle/>
          <a:p>
            <a:endParaRPr lang="en-US"/>
          </a:p>
        </p:txBody>
      </p:sp>
      <p:sp>
        <p:nvSpPr>
          <p:cNvPr id="13" name="Text 11"/>
          <p:cNvSpPr/>
          <p:nvPr/>
        </p:nvSpPr>
        <p:spPr>
          <a:xfrm>
            <a:off x="4846320" y="2377440"/>
            <a:ext cx="3657600" cy="274320"/>
          </a:xfrm>
          <a:prstGeom prst="rect">
            <a:avLst/>
          </a:prstGeom>
          <a:noFill/>
          <a:ln/>
        </p:spPr>
        <p:txBody>
          <a:bodyPr wrap="square" rtlCol="0" anchor="ctr"/>
          <a:lstStyle/>
          <a:p>
            <a:pPr marL="0" indent="0">
              <a:buNone/>
            </a:pPr>
            <a:r>
              <a:rPr lang="en-US" sz="1250" b="1" dirty="0">
                <a:solidFill>
                  <a:srgbClr val="1B4F72"/>
                </a:solidFill>
                <a:latin typeface="Calibri" pitchFamily="34" charset="0"/>
                <a:ea typeface="Calibri" pitchFamily="34" charset="-122"/>
                <a:cs typeface="Calibri" pitchFamily="34" charset="-120"/>
              </a:rPr>
              <a:t>Beeswarm plot</a:t>
            </a:r>
            <a:endParaRPr lang="en-US" sz="1250" dirty="0"/>
          </a:p>
        </p:txBody>
      </p:sp>
      <p:sp>
        <p:nvSpPr>
          <p:cNvPr id="14" name="Text 12"/>
          <p:cNvSpPr/>
          <p:nvPr/>
        </p:nvSpPr>
        <p:spPr>
          <a:xfrm>
            <a:off x="4846320" y="2697480"/>
            <a:ext cx="3657600" cy="34747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Shows both feature importance and the direction of each feature's impact on predictions.</a:t>
            </a:r>
            <a:endParaRPr lang="en-US" sz="1100" dirty="0"/>
          </a:p>
        </p:txBody>
      </p:sp>
      <p:sp>
        <p:nvSpPr>
          <p:cNvPr id="15" name="Shape 13"/>
          <p:cNvSpPr/>
          <p:nvPr/>
        </p:nvSpPr>
        <p:spPr>
          <a:xfrm>
            <a:off x="548640" y="3291840"/>
            <a:ext cx="3931920" cy="841248"/>
          </a:xfrm>
          <a:prstGeom prst="rect">
            <a:avLst/>
          </a:prstGeom>
          <a:solidFill>
            <a:srgbClr val="EEF2F7"/>
          </a:solidFill>
          <a:ln w="12700">
            <a:solidFill>
              <a:srgbClr val="DDDDDD"/>
            </a:solidFill>
            <a:prstDash val="solid"/>
          </a:ln>
        </p:spPr>
        <p:txBody>
          <a:bodyPr/>
          <a:lstStyle/>
          <a:p>
            <a:endParaRPr lang="en-US"/>
          </a:p>
        </p:txBody>
      </p:sp>
      <p:sp>
        <p:nvSpPr>
          <p:cNvPr id="16" name="Text 14"/>
          <p:cNvSpPr/>
          <p:nvPr/>
        </p:nvSpPr>
        <p:spPr>
          <a:xfrm>
            <a:off x="685800" y="3383280"/>
            <a:ext cx="3657600" cy="274320"/>
          </a:xfrm>
          <a:prstGeom prst="rect">
            <a:avLst/>
          </a:prstGeom>
          <a:noFill/>
          <a:ln/>
        </p:spPr>
        <p:txBody>
          <a:bodyPr wrap="square" rtlCol="0" anchor="ctr"/>
          <a:lstStyle/>
          <a:p>
            <a:pPr marL="0" indent="0">
              <a:buNone/>
            </a:pPr>
            <a:r>
              <a:rPr lang="en-US" sz="1250" b="1" dirty="0">
                <a:solidFill>
                  <a:srgbClr val="1B4F72"/>
                </a:solidFill>
                <a:latin typeface="Calibri" pitchFamily="34" charset="0"/>
                <a:ea typeface="Calibri" pitchFamily="34" charset="-122"/>
                <a:cs typeface="Calibri" pitchFamily="34" charset="-120"/>
              </a:rPr>
              <a:t>Fraud waterfall</a:t>
            </a:r>
            <a:endParaRPr lang="en-US" sz="1250" dirty="0"/>
          </a:p>
        </p:txBody>
      </p:sp>
      <p:sp>
        <p:nvSpPr>
          <p:cNvPr id="17" name="Text 15"/>
          <p:cNvSpPr/>
          <p:nvPr/>
        </p:nvSpPr>
        <p:spPr>
          <a:xfrm>
            <a:off x="685800" y="3703320"/>
            <a:ext cx="3657600" cy="34747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Exactly why one specific fraud transaction was flagged, feature by feature contribution.</a:t>
            </a:r>
            <a:endParaRPr lang="en-US" sz="1100" dirty="0"/>
          </a:p>
        </p:txBody>
      </p:sp>
      <p:sp>
        <p:nvSpPr>
          <p:cNvPr id="18" name="Shape 16"/>
          <p:cNvSpPr/>
          <p:nvPr/>
        </p:nvSpPr>
        <p:spPr>
          <a:xfrm>
            <a:off x="4709160" y="3291840"/>
            <a:ext cx="3931920" cy="841248"/>
          </a:xfrm>
          <a:prstGeom prst="rect">
            <a:avLst/>
          </a:prstGeom>
          <a:solidFill>
            <a:srgbClr val="F7F7F7"/>
          </a:solidFill>
          <a:ln w="12700">
            <a:solidFill>
              <a:srgbClr val="DDDDDD"/>
            </a:solidFill>
            <a:prstDash val="solid"/>
          </a:ln>
        </p:spPr>
        <p:txBody>
          <a:bodyPr/>
          <a:lstStyle/>
          <a:p>
            <a:endParaRPr lang="en-US"/>
          </a:p>
        </p:txBody>
      </p:sp>
      <p:sp>
        <p:nvSpPr>
          <p:cNvPr id="19" name="Text 17"/>
          <p:cNvSpPr/>
          <p:nvPr/>
        </p:nvSpPr>
        <p:spPr>
          <a:xfrm>
            <a:off x="4846320" y="3383280"/>
            <a:ext cx="3657600" cy="274320"/>
          </a:xfrm>
          <a:prstGeom prst="rect">
            <a:avLst/>
          </a:prstGeom>
          <a:noFill/>
          <a:ln/>
        </p:spPr>
        <p:txBody>
          <a:bodyPr wrap="square" rtlCol="0" anchor="ctr"/>
          <a:lstStyle/>
          <a:p>
            <a:pPr marL="0" indent="0">
              <a:buNone/>
            </a:pPr>
            <a:r>
              <a:rPr lang="en-US" sz="1250" b="1" dirty="0">
                <a:solidFill>
                  <a:srgbClr val="1B4F72"/>
                </a:solidFill>
                <a:latin typeface="Calibri" pitchFamily="34" charset="0"/>
                <a:ea typeface="Calibri" pitchFamily="34" charset="-122"/>
                <a:cs typeface="Calibri" pitchFamily="34" charset="-120"/>
              </a:rPr>
              <a:t>Normal waterfall</a:t>
            </a:r>
            <a:endParaRPr lang="en-US" sz="1250" dirty="0"/>
          </a:p>
        </p:txBody>
      </p:sp>
      <p:sp>
        <p:nvSpPr>
          <p:cNvPr id="20" name="Text 18"/>
          <p:cNvSpPr/>
          <p:nvPr/>
        </p:nvSpPr>
        <p:spPr>
          <a:xfrm>
            <a:off x="4846320" y="3703320"/>
            <a:ext cx="3657600" cy="34747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Why one normal transaction was allowed through.</a:t>
            </a:r>
            <a:endParaRPr lang="en-US" sz="1100" dirty="0"/>
          </a:p>
        </p:txBody>
      </p:sp>
      <p:sp>
        <p:nvSpPr>
          <p:cNvPr id="21" name="Shape 19"/>
          <p:cNvSpPr/>
          <p:nvPr/>
        </p:nvSpPr>
        <p:spPr>
          <a:xfrm>
            <a:off x="548640" y="4343400"/>
            <a:ext cx="8046720" cy="502920"/>
          </a:xfrm>
          <a:prstGeom prst="rect">
            <a:avLst/>
          </a:prstGeom>
          <a:solidFill>
            <a:srgbClr val="E8EFF5"/>
          </a:solidFill>
          <a:ln w="12700">
            <a:solidFill>
              <a:srgbClr val="DDDDDD"/>
            </a:solidFill>
            <a:prstDash val="solid"/>
          </a:ln>
        </p:spPr>
        <p:txBody>
          <a:bodyPr/>
          <a:lstStyle/>
          <a:p>
            <a:endParaRPr lang="en-US"/>
          </a:p>
        </p:txBody>
      </p:sp>
      <p:sp>
        <p:nvSpPr>
          <p:cNvPr id="22" name="Text 20"/>
          <p:cNvSpPr/>
          <p:nvPr/>
        </p:nvSpPr>
        <p:spPr>
          <a:xfrm>
            <a:off x="685800" y="4416552"/>
            <a:ext cx="77724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One fraud transaction had amount_ratio of 153,846 meaning the amount was 153,846 times the Irish CBI average. The model flagged it with 99.99% confidence.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Results Across All Notebooks</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How the model improved from baseline to final version</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298448"/>
            <a:ext cx="2514600" cy="411480"/>
          </a:xfrm>
          <a:prstGeom prst="rect">
            <a:avLst/>
          </a:prstGeom>
          <a:solidFill>
            <a:srgbClr val="0D1B2A"/>
          </a:solidFill>
          <a:ln w="12700">
            <a:solidFill>
              <a:srgbClr val="DDDDDD"/>
            </a:solidFill>
            <a:prstDash val="solid"/>
          </a:ln>
        </p:spPr>
        <p:txBody>
          <a:bodyPr/>
          <a:lstStyle/>
          <a:p>
            <a:endParaRPr lang="en-US"/>
          </a:p>
        </p:txBody>
      </p:sp>
      <p:sp>
        <p:nvSpPr>
          <p:cNvPr id="7" name="Text 5"/>
          <p:cNvSpPr/>
          <p:nvPr/>
        </p:nvSpPr>
        <p:spPr>
          <a:xfrm>
            <a:off x="548640" y="1298448"/>
            <a:ext cx="25146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8" name="Shape 6"/>
          <p:cNvSpPr/>
          <p:nvPr/>
        </p:nvSpPr>
        <p:spPr>
          <a:xfrm>
            <a:off x="3108960" y="1298448"/>
            <a:ext cx="1417320" cy="411480"/>
          </a:xfrm>
          <a:prstGeom prst="rect">
            <a:avLst/>
          </a:prstGeom>
          <a:solidFill>
            <a:srgbClr val="0D1B2A"/>
          </a:solidFill>
          <a:ln w="12700">
            <a:solidFill>
              <a:srgbClr val="DDDDDD"/>
            </a:solidFill>
            <a:prstDash val="solid"/>
          </a:ln>
        </p:spPr>
        <p:txBody>
          <a:bodyPr/>
          <a:lstStyle/>
          <a:p>
            <a:endParaRPr lang="en-US"/>
          </a:p>
        </p:txBody>
      </p:sp>
      <p:sp>
        <p:nvSpPr>
          <p:cNvPr id="9" name="Text 7"/>
          <p:cNvSpPr/>
          <p:nvPr/>
        </p:nvSpPr>
        <p:spPr>
          <a:xfrm>
            <a:off x="3108960" y="1298448"/>
            <a:ext cx="141732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p>
        </p:txBody>
      </p:sp>
      <p:sp>
        <p:nvSpPr>
          <p:cNvPr id="10" name="Shape 8"/>
          <p:cNvSpPr/>
          <p:nvPr/>
        </p:nvSpPr>
        <p:spPr>
          <a:xfrm>
            <a:off x="4572000" y="1298448"/>
            <a:ext cx="1371600" cy="411480"/>
          </a:xfrm>
          <a:prstGeom prst="rect">
            <a:avLst/>
          </a:prstGeom>
          <a:solidFill>
            <a:srgbClr val="0D1B2A"/>
          </a:solidFill>
          <a:ln w="12700">
            <a:solidFill>
              <a:srgbClr val="DDDDDD"/>
            </a:solidFill>
            <a:prstDash val="solid"/>
          </a:ln>
        </p:spPr>
        <p:txBody>
          <a:bodyPr/>
          <a:lstStyle/>
          <a:p>
            <a:endParaRPr lang="en-US"/>
          </a:p>
        </p:txBody>
      </p:sp>
      <p:sp>
        <p:nvSpPr>
          <p:cNvPr id="11" name="Text 9"/>
          <p:cNvSpPr/>
          <p:nvPr/>
        </p:nvSpPr>
        <p:spPr>
          <a:xfrm>
            <a:off x="4572000" y="1298448"/>
            <a:ext cx="13716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p>
        </p:txBody>
      </p:sp>
      <p:sp>
        <p:nvSpPr>
          <p:cNvPr id="12" name="Shape 10"/>
          <p:cNvSpPr/>
          <p:nvPr/>
        </p:nvSpPr>
        <p:spPr>
          <a:xfrm>
            <a:off x="5989320" y="1298448"/>
            <a:ext cx="914400" cy="411480"/>
          </a:xfrm>
          <a:prstGeom prst="rect">
            <a:avLst/>
          </a:prstGeom>
          <a:solidFill>
            <a:srgbClr val="0D1B2A"/>
          </a:solidFill>
          <a:ln w="12700">
            <a:solidFill>
              <a:srgbClr val="DDDDDD"/>
            </a:solidFill>
            <a:prstDash val="solid"/>
          </a:ln>
        </p:spPr>
        <p:txBody>
          <a:bodyPr/>
          <a:lstStyle/>
          <a:p>
            <a:endParaRPr lang="en-US"/>
          </a:p>
        </p:txBody>
      </p:sp>
      <p:sp>
        <p:nvSpPr>
          <p:cNvPr id="13" name="Text 11"/>
          <p:cNvSpPr/>
          <p:nvPr/>
        </p:nvSpPr>
        <p:spPr>
          <a:xfrm>
            <a:off x="5989320" y="1298448"/>
            <a:ext cx="9144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AUC</a:t>
            </a:r>
            <a:endParaRPr lang="en-US" sz="1100" dirty="0"/>
          </a:p>
        </p:txBody>
      </p:sp>
      <p:sp>
        <p:nvSpPr>
          <p:cNvPr id="14" name="Shape 12"/>
          <p:cNvSpPr/>
          <p:nvPr/>
        </p:nvSpPr>
        <p:spPr>
          <a:xfrm>
            <a:off x="6949440" y="1298448"/>
            <a:ext cx="1645920" cy="411480"/>
          </a:xfrm>
          <a:prstGeom prst="rect">
            <a:avLst/>
          </a:prstGeom>
          <a:solidFill>
            <a:srgbClr val="0D1B2A"/>
          </a:solidFill>
          <a:ln w="12700">
            <a:solidFill>
              <a:srgbClr val="DDDDDD"/>
            </a:solidFill>
            <a:prstDash val="solid"/>
          </a:ln>
        </p:spPr>
        <p:txBody>
          <a:bodyPr/>
          <a:lstStyle/>
          <a:p>
            <a:endParaRPr lang="en-US"/>
          </a:p>
        </p:txBody>
      </p:sp>
      <p:sp>
        <p:nvSpPr>
          <p:cNvPr id="15" name="Text 13"/>
          <p:cNvSpPr/>
          <p:nvPr/>
        </p:nvSpPr>
        <p:spPr>
          <a:xfrm>
            <a:off x="6949440" y="1298448"/>
            <a:ext cx="164592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Notes</a:t>
            </a:r>
            <a:endParaRPr lang="en-US" sz="1100" dirty="0"/>
          </a:p>
        </p:txBody>
      </p:sp>
      <p:sp>
        <p:nvSpPr>
          <p:cNvPr id="16" name="Shape 14"/>
          <p:cNvSpPr/>
          <p:nvPr/>
        </p:nvSpPr>
        <p:spPr>
          <a:xfrm>
            <a:off x="548640" y="1755648"/>
            <a:ext cx="2514600" cy="566928"/>
          </a:xfrm>
          <a:prstGeom prst="rect">
            <a:avLst/>
          </a:prstGeom>
          <a:solidFill>
            <a:srgbClr val="EEF2F7"/>
          </a:solidFill>
          <a:ln w="12700">
            <a:solidFill>
              <a:srgbClr val="DDDDDD"/>
            </a:solidFill>
            <a:prstDash val="solid"/>
          </a:ln>
        </p:spPr>
        <p:txBody>
          <a:bodyPr/>
          <a:lstStyle/>
          <a:p>
            <a:endParaRPr lang="en-US"/>
          </a:p>
        </p:txBody>
      </p:sp>
      <p:sp>
        <p:nvSpPr>
          <p:cNvPr id="17" name="Text 15"/>
          <p:cNvSpPr/>
          <p:nvPr/>
        </p:nvSpPr>
        <p:spPr>
          <a:xfrm>
            <a:off x="594360" y="1755648"/>
            <a:ext cx="2423160" cy="566928"/>
          </a:xfrm>
          <a:prstGeom prst="rect">
            <a:avLst/>
          </a:prstGeom>
          <a:noFill/>
          <a:ln/>
        </p:spPr>
        <p:txBody>
          <a:bodyPr wrap="square" rtlCol="0" anchor="ctr"/>
          <a:lstStyle/>
          <a:p>
            <a:pPr marL="0" indent="0" algn="l">
              <a:buNone/>
            </a:pPr>
            <a:r>
              <a:rPr lang="en-US" sz="1100" dirty="0">
                <a:solidFill>
                  <a:srgbClr val="111111"/>
                </a:solidFill>
                <a:latin typeface="Calibri" pitchFamily="34" charset="0"/>
                <a:ea typeface="Calibri" pitchFamily="34" charset="-122"/>
                <a:cs typeface="Calibri" pitchFamily="34" charset="-120"/>
              </a:rPr>
              <a:t>Baseline XGBoost</a:t>
            </a:r>
            <a:endParaRPr lang="en-US" sz="1100" dirty="0"/>
          </a:p>
        </p:txBody>
      </p:sp>
      <p:sp>
        <p:nvSpPr>
          <p:cNvPr id="18" name="Shape 16"/>
          <p:cNvSpPr/>
          <p:nvPr/>
        </p:nvSpPr>
        <p:spPr>
          <a:xfrm>
            <a:off x="3108960" y="1755648"/>
            <a:ext cx="1417320" cy="566928"/>
          </a:xfrm>
          <a:prstGeom prst="rect">
            <a:avLst/>
          </a:prstGeom>
          <a:solidFill>
            <a:srgbClr val="EEF2F7"/>
          </a:solidFill>
          <a:ln w="12700">
            <a:solidFill>
              <a:srgbClr val="DDDDDD"/>
            </a:solidFill>
            <a:prstDash val="solid"/>
          </a:ln>
        </p:spPr>
        <p:txBody>
          <a:bodyPr/>
          <a:lstStyle/>
          <a:p>
            <a:endParaRPr lang="en-US"/>
          </a:p>
        </p:txBody>
      </p:sp>
      <p:sp>
        <p:nvSpPr>
          <p:cNvPr id="19" name="Text 17"/>
          <p:cNvSpPr/>
          <p:nvPr/>
        </p:nvSpPr>
        <p:spPr>
          <a:xfrm>
            <a:off x="3154680" y="1755648"/>
            <a:ext cx="132588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0.4603</a:t>
            </a:r>
            <a:endParaRPr lang="en-US" sz="1200" dirty="0"/>
          </a:p>
        </p:txBody>
      </p:sp>
      <p:sp>
        <p:nvSpPr>
          <p:cNvPr id="20" name="Shape 18"/>
          <p:cNvSpPr/>
          <p:nvPr/>
        </p:nvSpPr>
        <p:spPr>
          <a:xfrm>
            <a:off x="4572000" y="1755648"/>
            <a:ext cx="1371600" cy="566928"/>
          </a:xfrm>
          <a:prstGeom prst="rect">
            <a:avLst/>
          </a:prstGeom>
          <a:solidFill>
            <a:srgbClr val="EEF2F7"/>
          </a:solidFill>
          <a:ln w="12700">
            <a:solidFill>
              <a:srgbClr val="DDDDDD"/>
            </a:solidFill>
            <a:prstDash val="solid"/>
          </a:ln>
        </p:spPr>
        <p:txBody>
          <a:bodyPr/>
          <a:lstStyle/>
          <a:p>
            <a:endParaRPr lang="en-US"/>
          </a:p>
        </p:txBody>
      </p:sp>
      <p:sp>
        <p:nvSpPr>
          <p:cNvPr id="21" name="Text 19"/>
          <p:cNvSpPr/>
          <p:nvPr/>
        </p:nvSpPr>
        <p:spPr>
          <a:xfrm>
            <a:off x="4617720" y="1755648"/>
            <a:ext cx="128016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0.9951</a:t>
            </a:r>
            <a:endParaRPr lang="en-US" sz="1200" dirty="0"/>
          </a:p>
        </p:txBody>
      </p:sp>
      <p:sp>
        <p:nvSpPr>
          <p:cNvPr id="22" name="Shape 20"/>
          <p:cNvSpPr/>
          <p:nvPr/>
        </p:nvSpPr>
        <p:spPr>
          <a:xfrm>
            <a:off x="5989320" y="1755648"/>
            <a:ext cx="914400" cy="566928"/>
          </a:xfrm>
          <a:prstGeom prst="rect">
            <a:avLst/>
          </a:prstGeom>
          <a:solidFill>
            <a:srgbClr val="EEF2F7"/>
          </a:solidFill>
          <a:ln w="12700">
            <a:solidFill>
              <a:srgbClr val="DDDDDD"/>
            </a:solidFill>
            <a:prstDash val="solid"/>
          </a:ln>
        </p:spPr>
        <p:txBody>
          <a:bodyPr/>
          <a:lstStyle/>
          <a:p>
            <a:endParaRPr lang="en-US"/>
          </a:p>
        </p:txBody>
      </p:sp>
      <p:sp>
        <p:nvSpPr>
          <p:cNvPr id="23" name="Text 21"/>
          <p:cNvSpPr/>
          <p:nvPr/>
        </p:nvSpPr>
        <p:spPr>
          <a:xfrm>
            <a:off x="6035040" y="1755648"/>
            <a:ext cx="822960" cy="566928"/>
          </a:xfrm>
          <a:prstGeom prst="rect">
            <a:avLst/>
          </a:prstGeom>
          <a:noFill/>
          <a:ln/>
        </p:spPr>
        <p:txBody>
          <a:bodyPr wrap="square" rtlCol="0" anchor="ctr"/>
          <a:lstStyle/>
          <a:p>
            <a:pPr marL="0" indent="0" algn="ctr">
              <a:buNone/>
            </a:pPr>
            <a:r>
              <a:rPr lang="en-US" sz="1200" b="1" dirty="0">
                <a:solidFill>
                  <a:srgbClr val="1B4F72"/>
                </a:solidFill>
                <a:latin typeface="Calibri" pitchFamily="34" charset="0"/>
                <a:ea typeface="Calibri" pitchFamily="34" charset="-122"/>
                <a:cs typeface="Calibri" pitchFamily="34" charset="-120"/>
              </a:rPr>
              <a:t>0.9983</a:t>
            </a:r>
            <a:endParaRPr lang="en-US" sz="1200" dirty="0"/>
          </a:p>
        </p:txBody>
      </p:sp>
      <p:sp>
        <p:nvSpPr>
          <p:cNvPr id="24" name="Shape 22"/>
          <p:cNvSpPr/>
          <p:nvPr/>
        </p:nvSpPr>
        <p:spPr>
          <a:xfrm>
            <a:off x="6949440" y="1755648"/>
            <a:ext cx="1645920" cy="566928"/>
          </a:xfrm>
          <a:prstGeom prst="rect">
            <a:avLst/>
          </a:prstGeom>
          <a:solidFill>
            <a:srgbClr val="EEF2F7"/>
          </a:solidFill>
          <a:ln w="12700">
            <a:solidFill>
              <a:srgbClr val="DDDDDD"/>
            </a:solidFill>
            <a:prstDash val="solid"/>
          </a:ln>
        </p:spPr>
        <p:txBody>
          <a:bodyPr/>
          <a:lstStyle/>
          <a:p>
            <a:endParaRPr lang="en-US"/>
          </a:p>
        </p:txBody>
      </p:sp>
      <p:sp>
        <p:nvSpPr>
          <p:cNvPr id="25" name="Text 23"/>
          <p:cNvSpPr/>
          <p:nvPr/>
        </p:nvSpPr>
        <p:spPr>
          <a:xfrm>
            <a:off x="6995160" y="1755648"/>
            <a:ext cx="155448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Default settings, no tuning</a:t>
            </a:r>
            <a:endParaRPr lang="en-US" sz="1200" dirty="0"/>
          </a:p>
        </p:txBody>
      </p:sp>
      <p:sp>
        <p:nvSpPr>
          <p:cNvPr id="26" name="Shape 24"/>
          <p:cNvSpPr/>
          <p:nvPr/>
        </p:nvSpPr>
        <p:spPr>
          <a:xfrm>
            <a:off x="548640" y="2414016"/>
            <a:ext cx="2514600" cy="566928"/>
          </a:xfrm>
          <a:prstGeom prst="rect">
            <a:avLst/>
          </a:prstGeom>
          <a:solidFill>
            <a:srgbClr val="F7F7F7"/>
          </a:solidFill>
          <a:ln w="12700">
            <a:solidFill>
              <a:srgbClr val="DDDDDD"/>
            </a:solidFill>
            <a:prstDash val="solid"/>
          </a:ln>
        </p:spPr>
        <p:txBody>
          <a:bodyPr/>
          <a:lstStyle/>
          <a:p>
            <a:endParaRPr lang="en-US"/>
          </a:p>
        </p:txBody>
      </p:sp>
      <p:sp>
        <p:nvSpPr>
          <p:cNvPr id="27" name="Text 25"/>
          <p:cNvSpPr/>
          <p:nvPr/>
        </p:nvSpPr>
        <p:spPr>
          <a:xfrm>
            <a:off x="594360" y="2414016"/>
            <a:ext cx="2423160" cy="566928"/>
          </a:xfrm>
          <a:prstGeom prst="rect">
            <a:avLst/>
          </a:prstGeom>
          <a:noFill/>
          <a:ln/>
        </p:spPr>
        <p:txBody>
          <a:bodyPr wrap="square" rtlCol="0" anchor="ctr"/>
          <a:lstStyle/>
          <a:p>
            <a:pPr marL="0" indent="0" algn="l">
              <a:buNone/>
            </a:pPr>
            <a:r>
              <a:rPr lang="en-US" sz="1100" dirty="0">
                <a:solidFill>
                  <a:srgbClr val="111111"/>
                </a:solidFill>
                <a:latin typeface="Calibri" pitchFamily="34" charset="0"/>
                <a:ea typeface="Calibri" pitchFamily="34" charset="-122"/>
                <a:cs typeface="Calibri" pitchFamily="34" charset="-120"/>
              </a:rPr>
              <a:t>After Optuna tuning</a:t>
            </a:r>
            <a:endParaRPr lang="en-US" sz="1100" dirty="0"/>
          </a:p>
        </p:txBody>
      </p:sp>
      <p:sp>
        <p:nvSpPr>
          <p:cNvPr id="28" name="Shape 26"/>
          <p:cNvSpPr/>
          <p:nvPr/>
        </p:nvSpPr>
        <p:spPr>
          <a:xfrm>
            <a:off x="3108960" y="2414016"/>
            <a:ext cx="1417320" cy="566928"/>
          </a:xfrm>
          <a:prstGeom prst="rect">
            <a:avLst/>
          </a:prstGeom>
          <a:solidFill>
            <a:srgbClr val="F7F7F7"/>
          </a:solidFill>
          <a:ln w="12700">
            <a:solidFill>
              <a:srgbClr val="DDDDDD"/>
            </a:solidFill>
            <a:prstDash val="solid"/>
          </a:ln>
        </p:spPr>
        <p:txBody>
          <a:bodyPr/>
          <a:lstStyle/>
          <a:p>
            <a:endParaRPr lang="en-US"/>
          </a:p>
        </p:txBody>
      </p:sp>
      <p:sp>
        <p:nvSpPr>
          <p:cNvPr id="29" name="Text 27"/>
          <p:cNvSpPr/>
          <p:nvPr/>
        </p:nvSpPr>
        <p:spPr>
          <a:xfrm>
            <a:off x="3154680" y="2414016"/>
            <a:ext cx="132588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0.4932</a:t>
            </a:r>
            <a:endParaRPr lang="en-US" sz="1200" dirty="0"/>
          </a:p>
        </p:txBody>
      </p:sp>
      <p:sp>
        <p:nvSpPr>
          <p:cNvPr id="30" name="Shape 28"/>
          <p:cNvSpPr/>
          <p:nvPr/>
        </p:nvSpPr>
        <p:spPr>
          <a:xfrm>
            <a:off x="4572000" y="2414016"/>
            <a:ext cx="1371600" cy="566928"/>
          </a:xfrm>
          <a:prstGeom prst="rect">
            <a:avLst/>
          </a:prstGeom>
          <a:solidFill>
            <a:srgbClr val="F7F7F7"/>
          </a:solidFill>
          <a:ln w="12700">
            <a:solidFill>
              <a:srgbClr val="DDDDDD"/>
            </a:solidFill>
            <a:prstDash val="solid"/>
          </a:ln>
        </p:spPr>
        <p:txBody>
          <a:bodyPr/>
          <a:lstStyle/>
          <a:p>
            <a:endParaRPr lang="en-US"/>
          </a:p>
        </p:txBody>
      </p:sp>
      <p:sp>
        <p:nvSpPr>
          <p:cNvPr id="31" name="Text 29"/>
          <p:cNvSpPr/>
          <p:nvPr/>
        </p:nvSpPr>
        <p:spPr>
          <a:xfrm>
            <a:off x="4617720" y="2414016"/>
            <a:ext cx="128016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0.9933</a:t>
            </a:r>
            <a:endParaRPr lang="en-US" sz="1200" dirty="0"/>
          </a:p>
        </p:txBody>
      </p:sp>
      <p:sp>
        <p:nvSpPr>
          <p:cNvPr id="32" name="Shape 30"/>
          <p:cNvSpPr/>
          <p:nvPr/>
        </p:nvSpPr>
        <p:spPr>
          <a:xfrm>
            <a:off x="5989320" y="2414016"/>
            <a:ext cx="914400" cy="566928"/>
          </a:xfrm>
          <a:prstGeom prst="rect">
            <a:avLst/>
          </a:prstGeom>
          <a:solidFill>
            <a:srgbClr val="F7F7F7"/>
          </a:solidFill>
          <a:ln w="12700">
            <a:solidFill>
              <a:srgbClr val="DDDDDD"/>
            </a:solidFill>
            <a:prstDash val="solid"/>
          </a:ln>
        </p:spPr>
        <p:txBody>
          <a:bodyPr/>
          <a:lstStyle/>
          <a:p>
            <a:endParaRPr lang="en-US"/>
          </a:p>
        </p:txBody>
      </p:sp>
      <p:sp>
        <p:nvSpPr>
          <p:cNvPr id="33" name="Text 31"/>
          <p:cNvSpPr/>
          <p:nvPr/>
        </p:nvSpPr>
        <p:spPr>
          <a:xfrm>
            <a:off x="6035040" y="2414016"/>
            <a:ext cx="822960" cy="566928"/>
          </a:xfrm>
          <a:prstGeom prst="rect">
            <a:avLst/>
          </a:prstGeom>
          <a:noFill/>
          <a:ln/>
        </p:spPr>
        <p:txBody>
          <a:bodyPr wrap="square" rtlCol="0" anchor="ctr"/>
          <a:lstStyle/>
          <a:p>
            <a:pPr marL="0" indent="0" algn="ctr">
              <a:buNone/>
            </a:pPr>
            <a:r>
              <a:rPr lang="en-US" sz="1200" b="1" dirty="0">
                <a:solidFill>
                  <a:srgbClr val="1B4F72"/>
                </a:solidFill>
                <a:latin typeface="Calibri" pitchFamily="34" charset="0"/>
                <a:ea typeface="Calibri" pitchFamily="34" charset="-122"/>
                <a:cs typeface="Calibri" pitchFamily="34" charset="-120"/>
              </a:rPr>
              <a:t>0.9984</a:t>
            </a:r>
            <a:endParaRPr lang="en-US" sz="1200" dirty="0"/>
          </a:p>
        </p:txBody>
      </p:sp>
      <p:sp>
        <p:nvSpPr>
          <p:cNvPr id="34" name="Shape 32"/>
          <p:cNvSpPr/>
          <p:nvPr/>
        </p:nvSpPr>
        <p:spPr>
          <a:xfrm>
            <a:off x="6949440" y="2414016"/>
            <a:ext cx="1645920" cy="566928"/>
          </a:xfrm>
          <a:prstGeom prst="rect">
            <a:avLst/>
          </a:prstGeom>
          <a:solidFill>
            <a:srgbClr val="F7F7F7"/>
          </a:solidFill>
          <a:ln w="12700">
            <a:solidFill>
              <a:srgbClr val="DDDDDD"/>
            </a:solidFill>
            <a:prstDash val="solid"/>
          </a:ln>
        </p:spPr>
        <p:txBody>
          <a:bodyPr/>
          <a:lstStyle/>
          <a:p>
            <a:endParaRPr lang="en-US"/>
          </a:p>
        </p:txBody>
      </p:sp>
      <p:sp>
        <p:nvSpPr>
          <p:cNvPr id="35" name="Text 33"/>
          <p:cNvSpPr/>
          <p:nvPr/>
        </p:nvSpPr>
        <p:spPr>
          <a:xfrm>
            <a:off x="6995160" y="2414016"/>
            <a:ext cx="155448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50 Bayesian trials</a:t>
            </a:r>
            <a:endParaRPr lang="en-US" sz="1200" dirty="0"/>
          </a:p>
        </p:txBody>
      </p:sp>
      <p:sp>
        <p:nvSpPr>
          <p:cNvPr id="36" name="Shape 34"/>
          <p:cNvSpPr/>
          <p:nvPr/>
        </p:nvSpPr>
        <p:spPr>
          <a:xfrm>
            <a:off x="548640" y="3072384"/>
            <a:ext cx="2514600" cy="566928"/>
          </a:xfrm>
          <a:prstGeom prst="rect">
            <a:avLst/>
          </a:prstGeom>
          <a:solidFill>
            <a:srgbClr val="EEF2F7"/>
          </a:solidFill>
          <a:ln w="12700">
            <a:solidFill>
              <a:srgbClr val="DDDDDD"/>
            </a:solidFill>
            <a:prstDash val="solid"/>
          </a:ln>
        </p:spPr>
        <p:txBody>
          <a:bodyPr/>
          <a:lstStyle/>
          <a:p>
            <a:endParaRPr lang="en-US"/>
          </a:p>
        </p:txBody>
      </p:sp>
      <p:sp>
        <p:nvSpPr>
          <p:cNvPr id="37" name="Text 35"/>
          <p:cNvSpPr/>
          <p:nvPr/>
        </p:nvSpPr>
        <p:spPr>
          <a:xfrm>
            <a:off x="594360" y="3072384"/>
            <a:ext cx="2423160" cy="566928"/>
          </a:xfrm>
          <a:prstGeom prst="rect">
            <a:avLst/>
          </a:prstGeom>
          <a:noFill/>
          <a:ln/>
        </p:spPr>
        <p:txBody>
          <a:bodyPr wrap="square" rtlCol="0" anchor="ctr"/>
          <a:lstStyle/>
          <a:p>
            <a:pPr marL="0" indent="0" algn="l">
              <a:buNone/>
            </a:pPr>
            <a:r>
              <a:rPr lang="en-US" sz="1100" dirty="0">
                <a:solidFill>
                  <a:srgbClr val="111111"/>
                </a:solidFill>
                <a:latin typeface="Calibri" pitchFamily="34" charset="0"/>
                <a:ea typeface="Calibri" pitchFamily="34" charset="-122"/>
                <a:cs typeface="Calibri" pitchFamily="34" charset="-120"/>
              </a:rPr>
              <a:t>Tuned with Isolation Forest</a:t>
            </a:r>
            <a:endParaRPr lang="en-US" sz="1100" dirty="0"/>
          </a:p>
        </p:txBody>
      </p:sp>
      <p:sp>
        <p:nvSpPr>
          <p:cNvPr id="38" name="Shape 36"/>
          <p:cNvSpPr/>
          <p:nvPr/>
        </p:nvSpPr>
        <p:spPr>
          <a:xfrm>
            <a:off x="3108960" y="3072384"/>
            <a:ext cx="1417320" cy="566928"/>
          </a:xfrm>
          <a:prstGeom prst="rect">
            <a:avLst/>
          </a:prstGeom>
          <a:solidFill>
            <a:srgbClr val="EEF2F7"/>
          </a:solidFill>
          <a:ln w="12700">
            <a:solidFill>
              <a:srgbClr val="DDDDDD"/>
            </a:solidFill>
            <a:prstDash val="solid"/>
          </a:ln>
        </p:spPr>
        <p:txBody>
          <a:bodyPr/>
          <a:lstStyle/>
          <a:p>
            <a:endParaRPr lang="en-US"/>
          </a:p>
        </p:txBody>
      </p:sp>
      <p:sp>
        <p:nvSpPr>
          <p:cNvPr id="39" name="Text 37"/>
          <p:cNvSpPr/>
          <p:nvPr/>
        </p:nvSpPr>
        <p:spPr>
          <a:xfrm>
            <a:off x="3154680" y="3072384"/>
            <a:ext cx="132588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0.4898</a:t>
            </a:r>
            <a:endParaRPr lang="en-US" sz="1200" dirty="0"/>
          </a:p>
        </p:txBody>
      </p:sp>
      <p:sp>
        <p:nvSpPr>
          <p:cNvPr id="40" name="Shape 38"/>
          <p:cNvSpPr/>
          <p:nvPr/>
        </p:nvSpPr>
        <p:spPr>
          <a:xfrm>
            <a:off x="4572000" y="3072384"/>
            <a:ext cx="1371600" cy="566928"/>
          </a:xfrm>
          <a:prstGeom prst="rect">
            <a:avLst/>
          </a:prstGeom>
          <a:solidFill>
            <a:srgbClr val="EEF2F7"/>
          </a:solidFill>
          <a:ln w="12700">
            <a:solidFill>
              <a:srgbClr val="DDDDDD"/>
            </a:solidFill>
            <a:prstDash val="solid"/>
          </a:ln>
        </p:spPr>
        <p:txBody>
          <a:bodyPr/>
          <a:lstStyle/>
          <a:p>
            <a:endParaRPr lang="en-US"/>
          </a:p>
        </p:txBody>
      </p:sp>
      <p:sp>
        <p:nvSpPr>
          <p:cNvPr id="41" name="Text 39"/>
          <p:cNvSpPr/>
          <p:nvPr/>
        </p:nvSpPr>
        <p:spPr>
          <a:xfrm>
            <a:off x="4617720" y="3072384"/>
            <a:ext cx="128016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0.9909</a:t>
            </a:r>
            <a:endParaRPr lang="en-US" sz="1200" dirty="0"/>
          </a:p>
        </p:txBody>
      </p:sp>
      <p:sp>
        <p:nvSpPr>
          <p:cNvPr id="42" name="Shape 40"/>
          <p:cNvSpPr/>
          <p:nvPr/>
        </p:nvSpPr>
        <p:spPr>
          <a:xfrm>
            <a:off x="5989320" y="3072384"/>
            <a:ext cx="914400" cy="566928"/>
          </a:xfrm>
          <a:prstGeom prst="rect">
            <a:avLst/>
          </a:prstGeom>
          <a:solidFill>
            <a:srgbClr val="EEF2F7"/>
          </a:solidFill>
          <a:ln w="12700">
            <a:solidFill>
              <a:srgbClr val="DDDDDD"/>
            </a:solidFill>
            <a:prstDash val="solid"/>
          </a:ln>
        </p:spPr>
        <p:txBody>
          <a:bodyPr/>
          <a:lstStyle/>
          <a:p>
            <a:endParaRPr lang="en-US"/>
          </a:p>
        </p:txBody>
      </p:sp>
      <p:sp>
        <p:nvSpPr>
          <p:cNvPr id="43" name="Text 41"/>
          <p:cNvSpPr/>
          <p:nvPr/>
        </p:nvSpPr>
        <p:spPr>
          <a:xfrm>
            <a:off x="6035040" y="3072384"/>
            <a:ext cx="822960" cy="566928"/>
          </a:xfrm>
          <a:prstGeom prst="rect">
            <a:avLst/>
          </a:prstGeom>
          <a:noFill/>
          <a:ln/>
        </p:spPr>
        <p:txBody>
          <a:bodyPr wrap="square" rtlCol="0" anchor="ctr"/>
          <a:lstStyle/>
          <a:p>
            <a:pPr marL="0" indent="0" algn="ctr">
              <a:buNone/>
            </a:pPr>
            <a:r>
              <a:rPr lang="en-US" sz="1200" b="1" dirty="0">
                <a:solidFill>
                  <a:srgbClr val="1B4F72"/>
                </a:solidFill>
                <a:latin typeface="Calibri" pitchFamily="34" charset="0"/>
                <a:ea typeface="Calibri" pitchFamily="34" charset="-122"/>
                <a:cs typeface="Calibri" pitchFamily="34" charset="-120"/>
              </a:rPr>
              <a:t>0.9985</a:t>
            </a:r>
            <a:endParaRPr lang="en-US" sz="1200" dirty="0"/>
          </a:p>
        </p:txBody>
      </p:sp>
      <p:sp>
        <p:nvSpPr>
          <p:cNvPr id="44" name="Shape 42"/>
          <p:cNvSpPr/>
          <p:nvPr/>
        </p:nvSpPr>
        <p:spPr>
          <a:xfrm>
            <a:off x="6949440" y="3072384"/>
            <a:ext cx="1645920" cy="566928"/>
          </a:xfrm>
          <a:prstGeom prst="rect">
            <a:avLst/>
          </a:prstGeom>
          <a:solidFill>
            <a:srgbClr val="EEF2F7"/>
          </a:solidFill>
          <a:ln w="12700">
            <a:solidFill>
              <a:srgbClr val="DDDDDD"/>
            </a:solidFill>
            <a:prstDash val="solid"/>
          </a:ln>
        </p:spPr>
        <p:txBody>
          <a:bodyPr/>
          <a:lstStyle/>
          <a:p>
            <a:endParaRPr lang="en-US"/>
          </a:p>
        </p:txBody>
      </p:sp>
      <p:sp>
        <p:nvSpPr>
          <p:cNvPr id="45" name="Text 43"/>
          <p:cNvSpPr/>
          <p:nvPr/>
        </p:nvSpPr>
        <p:spPr>
          <a:xfrm>
            <a:off x="6995160" y="3072384"/>
            <a:ext cx="155448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Anomaly score as extra feature</a:t>
            </a:r>
            <a:endParaRPr lang="en-US" sz="1200" dirty="0"/>
          </a:p>
        </p:txBody>
      </p:sp>
      <p:sp>
        <p:nvSpPr>
          <p:cNvPr id="46" name="Shape 44"/>
          <p:cNvSpPr/>
          <p:nvPr/>
        </p:nvSpPr>
        <p:spPr>
          <a:xfrm>
            <a:off x="548640" y="3730752"/>
            <a:ext cx="2514600" cy="566928"/>
          </a:xfrm>
          <a:prstGeom prst="rect">
            <a:avLst/>
          </a:prstGeom>
          <a:solidFill>
            <a:srgbClr val="F7F7F7"/>
          </a:solidFill>
          <a:ln w="12700">
            <a:solidFill>
              <a:srgbClr val="DDDDDD"/>
            </a:solidFill>
            <a:prstDash val="solid"/>
          </a:ln>
        </p:spPr>
        <p:txBody>
          <a:bodyPr/>
          <a:lstStyle/>
          <a:p>
            <a:endParaRPr lang="en-US"/>
          </a:p>
        </p:txBody>
      </p:sp>
      <p:sp>
        <p:nvSpPr>
          <p:cNvPr id="47" name="Text 45"/>
          <p:cNvSpPr/>
          <p:nvPr/>
        </p:nvSpPr>
        <p:spPr>
          <a:xfrm>
            <a:off x="594360" y="3730752"/>
            <a:ext cx="2423160" cy="566928"/>
          </a:xfrm>
          <a:prstGeom prst="rect">
            <a:avLst/>
          </a:prstGeom>
          <a:noFill/>
          <a:ln/>
        </p:spPr>
        <p:txBody>
          <a:bodyPr wrap="square" rtlCol="0" anchor="ctr"/>
          <a:lstStyle/>
          <a:p>
            <a:pPr marL="0" indent="0" algn="l">
              <a:buNone/>
            </a:pPr>
            <a:r>
              <a:rPr lang="en-US" sz="1100" dirty="0">
                <a:solidFill>
                  <a:srgbClr val="111111"/>
                </a:solidFill>
                <a:latin typeface="Calibri" pitchFamily="34" charset="0"/>
                <a:ea typeface="Calibri" pitchFamily="34" charset="-122"/>
                <a:cs typeface="Calibri" pitchFamily="34" charset="-120"/>
              </a:rPr>
              <a:t>Published baseline (Ileberi et al.)</a:t>
            </a:r>
            <a:endParaRPr lang="en-US" sz="1100" dirty="0"/>
          </a:p>
        </p:txBody>
      </p:sp>
      <p:sp>
        <p:nvSpPr>
          <p:cNvPr id="48" name="Shape 46"/>
          <p:cNvSpPr/>
          <p:nvPr/>
        </p:nvSpPr>
        <p:spPr>
          <a:xfrm>
            <a:off x="3108960" y="3730752"/>
            <a:ext cx="1417320" cy="566928"/>
          </a:xfrm>
          <a:prstGeom prst="rect">
            <a:avLst/>
          </a:prstGeom>
          <a:solidFill>
            <a:srgbClr val="F7F7F7"/>
          </a:solidFill>
          <a:ln w="12700">
            <a:solidFill>
              <a:srgbClr val="DDDDDD"/>
            </a:solidFill>
            <a:prstDash val="solid"/>
          </a:ln>
        </p:spPr>
        <p:txBody>
          <a:bodyPr/>
          <a:lstStyle/>
          <a:p>
            <a:endParaRPr lang="en-US"/>
          </a:p>
        </p:txBody>
      </p:sp>
      <p:sp>
        <p:nvSpPr>
          <p:cNvPr id="49" name="Text 47"/>
          <p:cNvSpPr/>
          <p:nvPr/>
        </p:nvSpPr>
        <p:spPr>
          <a:xfrm>
            <a:off x="3154680" y="3730752"/>
            <a:ext cx="132588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n/a</a:t>
            </a:r>
            <a:endParaRPr lang="en-US" sz="1200" dirty="0"/>
          </a:p>
        </p:txBody>
      </p:sp>
      <p:sp>
        <p:nvSpPr>
          <p:cNvPr id="50" name="Shape 48"/>
          <p:cNvSpPr/>
          <p:nvPr/>
        </p:nvSpPr>
        <p:spPr>
          <a:xfrm>
            <a:off x="4572000" y="3730752"/>
            <a:ext cx="1371600" cy="566928"/>
          </a:xfrm>
          <a:prstGeom prst="rect">
            <a:avLst/>
          </a:prstGeom>
          <a:solidFill>
            <a:srgbClr val="F7F7F7"/>
          </a:solidFill>
          <a:ln w="12700">
            <a:solidFill>
              <a:srgbClr val="DDDDDD"/>
            </a:solidFill>
            <a:prstDash val="solid"/>
          </a:ln>
        </p:spPr>
        <p:txBody>
          <a:bodyPr/>
          <a:lstStyle/>
          <a:p>
            <a:endParaRPr lang="en-US"/>
          </a:p>
        </p:txBody>
      </p:sp>
      <p:sp>
        <p:nvSpPr>
          <p:cNvPr id="51" name="Text 49"/>
          <p:cNvSpPr/>
          <p:nvPr/>
        </p:nvSpPr>
        <p:spPr>
          <a:xfrm>
            <a:off x="4617720" y="3730752"/>
            <a:ext cx="128016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n/a</a:t>
            </a:r>
            <a:endParaRPr lang="en-US" sz="1200" dirty="0"/>
          </a:p>
        </p:txBody>
      </p:sp>
      <p:sp>
        <p:nvSpPr>
          <p:cNvPr id="52" name="Shape 50"/>
          <p:cNvSpPr/>
          <p:nvPr/>
        </p:nvSpPr>
        <p:spPr>
          <a:xfrm>
            <a:off x="5989320" y="3730752"/>
            <a:ext cx="914400" cy="566928"/>
          </a:xfrm>
          <a:prstGeom prst="rect">
            <a:avLst/>
          </a:prstGeom>
          <a:solidFill>
            <a:srgbClr val="F7F7F7"/>
          </a:solidFill>
          <a:ln w="12700">
            <a:solidFill>
              <a:srgbClr val="DDDDDD"/>
            </a:solidFill>
            <a:prstDash val="solid"/>
          </a:ln>
        </p:spPr>
        <p:txBody>
          <a:bodyPr/>
          <a:lstStyle/>
          <a:p>
            <a:endParaRPr lang="en-US"/>
          </a:p>
        </p:txBody>
      </p:sp>
      <p:sp>
        <p:nvSpPr>
          <p:cNvPr id="53" name="Text 51"/>
          <p:cNvSpPr/>
          <p:nvPr/>
        </p:nvSpPr>
        <p:spPr>
          <a:xfrm>
            <a:off x="6035040" y="3730752"/>
            <a:ext cx="82296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0.9790</a:t>
            </a:r>
            <a:endParaRPr lang="en-US" sz="1200" dirty="0"/>
          </a:p>
        </p:txBody>
      </p:sp>
      <p:sp>
        <p:nvSpPr>
          <p:cNvPr id="54" name="Shape 52"/>
          <p:cNvSpPr/>
          <p:nvPr/>
        </p:nvSpPr>
        <p:spPr>
          <a:xfrm>
            <a:off x="6949440" y="3730752"/>
            <a:ext cx="1645920" cy="566928"/>
          </a:xfrm>
          <a:prstGeom prst="rect">
            <a:avLst/>
          </a:prstGeom>
          <a:solidFill>
            <a:srgbClr val="F7F7F7"/>
          </a:solidFill>
          <a:ln w="12700">
            <a:solidFill>
              <a:srgbClr val="DDDDDD"/>
            </a:solidFill>
            <a:prstDash val="solid"/>
          </a:ln>
        </p:spPr>
        <p:txBody>
          <a:bodyPr/>
          <a:lstStyle/>
          <a:p>
            <a:endParaRPr lang="en-US"/>
          </a:p>
        </p:txBody>
      </p:sp>
      <p:sp>
        <p:nvSpPr>
          <p:cNvPr id="55" name="Text 53"/>
          <p:cNvSpPr/>
          <p:nvPr/>
        </p:nvSpPr>
        <p:spPr>
          <a:xfrm>
            <a:off x="6995160" y="3730752"/>
            <a:ext cx="1554480" cy="566928"/>
          </a:xfrm>
          <a:prstGeom prst="rect">
            <a:avLst/>
          </a:prstGeom>
          <a:noFill/>
          <a:ln/>
        </p:spPr>
        <p:txBody>
          <a:bodyPr wrap="square"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Target to beat on Kaggle dataset</a:t>
            </a:r>
            <a:endParaRPr lang="en-US" sz="1200" dirty="0"/>
          </a:p>
        </p:txBody>
      </p:sp>
      <p:sp>
        <p:nvSpPr>
          <p:cNvPr id="56" name="Text 54"/>
          <p:cNvSpPr/>
          <p:nvPr/>
        </p:nvSpPr>
        <p:spPr>
          <a:xfrm>
            <a:off x="548640" y="4526280"/>
            <a:ext cx="8046720" cy="320040"/>
          </a:xfrm>
          <a:prstGeom prst="rect">
            <a:avLst/>
          </a:prstGeom>
          <a:noFill/>
          <a:ln/>
        </p:spPr>
        <p:txBody>
          <a:bodyPr wrap="square" rtlCol="0" anchor="ctr"/>
          <a:lstStyle/>
          <a:p>
            <a:pPr marL="0" indent="0" algn="ctr">
              <a:buNone/>
            </a:pPr>
            <a:r>
              <a:rPr lang="en-US" sz="1200" i="1" dirty="0">
                <a:solidFill>
                  <a:srgbClr val="888888"/>
                </a:solidFill>
                <a:latin typeface="Calibri" pitchFamily="34" charset="0"/>
                <a:ea typeface="Calibri" pitchFamily="34" charset="-122"/>
                <a:cs typeface="Calibri" pitchFamily="34" charset="-120"/>
              </a:rPr>
              <a:t>Recall stayed above 99% throughout. AUC beats the published baseline. Precision needs threshold tuning.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Development History</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All code committed to GitHub with dated history</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353312"/>
            <a:ext cx="8046720" cy="658368"/>
          </a:xfrm>
          <a:prstGeom prst="rect">
            <a:avLst/>
          </a:prstGeom>
          <a:solidFill>
            <a:srgbClr val="EEF2F7"/>
          </a:solidFill>
          <a:ln w="12700">
            <a:solidFill>
              <a:srgbClr val="DDDDDD"/>
            </a:solidFill>
            <a:prstDash val="solid"/>
          </a:ln>
        </p:spPr>
        <p:txBody>
          <a:bodyPr/>
          <a:lstStyle/>
          <a:p>
            <a:endParaRPr lang="en-US"/>
          </a:p>
        </p:txBody>
      </p:sp>
      <p:sp>
        <p:nvSpPr>
          <p:cNvPr id="7" name="Shape 5"/>
          <p:cNvSpPr/>
          <p:nvPr/>
        </p:nvSpPr>
        <p:spPr>
          <a:xfrm>
            <a:off x="548640" y="1353312"/>
            <a:ext cx="1371600" cy="658368"/>
          </a:xfrm>
          <a:prstGeom prst="rect">
            <a:avLst/>
          </a:prstGeom>
          <a:solidFill>
            <a:srgbClr val="0D1B2A"/>
          </a:solidFill>
          <a:ln/>
        </p:spPr>
        <p:txBody>
          <a:bodyPr/>
          <a:lstStyle/>
          <a:p>
            <a:endParaRPr lang="en-US"/>
          </a:p>
        </p:txBody>
      </p:sp>
      <p:sp>
        <p:nvSpPr>
          <p:cNvPr id="8" name="Text 6"/>
          <p:cNvSpPr/>
          <p:nvPr/>
        </p:nvSpPr>
        <p:spPr>
          <a:xfrm>
            <a:off x="548640" y="1353312"/>
            <a:ext cx="137160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30 Jun 2026</a:t>
            </a:r>
            <a:endParaRPr lang="en-US" sz="1100" dirty="0"/>
          </a:p>
        </p:txBody>
      </p:sp>
      <p:sp>
        <p:nvSpPr>
          <p:cNvPr id="9" name="Text 7"/>
          <p:cNvSpPr/>
          <p:nvPr/>
        </p:nvSpPr>
        <p:spPr>
          <a:xfrm>
            <a:off x="2057400" y="1417320"/>
            <a:ext cx="6400800" cy="502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Notebook 01: PaySim loaded, EDA complete, 4 Irish CBI features engineered</a:t>
            </a:r>
            <a:endParaRPr lang="en-US" sz="1200" dirty="0"/>
          </a:p>
        </p:txBody>
      </p:sp>
      <p:sp>
        <p:nvSpPr>
          <p:cNvPr id="10" name="Shape 8"/>
          <p:cNvSpPr/>
          <p:nvPr/>
        </p:nvSpPr>
        <p:spPr>
          <a:xfrm>
            <a:off x="548640" y="2176272"/>
            <a:ext cx="8046720" cy="658368"/>
          </a:xfrm>
          <a:prstGeom prst="rect">
            <a:avLst/>
          </a:prstGeom>
          <a:solidFill>
            <a:srgbClr val="F7F7F7"/>
          </a:solidFill>
          <a:ln w="12700">
            <a:solidFill>
              <a:srgbClr val="DDDDDD"/>
            </a:solidFill>
            <a:prstDash val="solid"/>
          </a:ln>
        </p:spPr>
        <p:txBody>
          <a:bodyPr/>
          <a:lstStyle/>
          <a:p>
            <a:endParaRPr lang="en-US"/>
          </a:p>
        </p:txBody>
      </p:sp>
      <p:sp>
        <p:nvSpPr>
          <p:cNvPr id="11" name="Shape 9"/>
          <p:cNvSpPr/>
          <p:nvPr/>
        </p:nvSpPr>
        <p:spPr>
          <a:xfrm>
            <a:off x="548640" y="2176272"/>
            <a:ext cx="1371600" cy="658368"/>
          </a:xfrm>
          <a:prstGeom prst="rect">
            <a:avLst/>
          </a:prstGeom>
          <a:solidFill>
            <a:srgbClr val="0D1B2A"/>
          </a:solidFill>
          <a:ln/>
        </p:spPr>
        <p:txBody>
          <a:bodyPr/>
          <a:lstStyle/>
          <a:p>
            <a:endParaRPr lang="en-US"/>
          </a:p>
        </p:txBody>
      </p:sp>
      <p:sp>
        <p:nvSpPr>
          <p:cNvPr id="12" name="Text 10"/>
          <p:cNvSpPr/>
          <p:nvPr/>
        </p:nvSpPr>
        <p:spPr>
          <a:xfrm>
            <a:off x="548640" y="2176272"/>
            <a:ext cx="137160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 Jul 2026</a:t>
            </a:r>
            <a:endParaRPr lang="en-US" sz="1100" dirty="0"/>
          </a:p>
        </p:txBody>
      </p:sp>
      <p:sp>
        <p:nvSpPr>
          <p:cNvPr id="13" name="Text 11"/>
          <p:cNvSpPr/>
          <p:nvPr/>
        </p:nvSpPr>
        <p:spPr>
          <a:xfrm>
            <a:off x="2057400" y="2240280"/>
            <a:ext cx="6400800" cy="502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Notebook 02: SMOTE applied, XGBoost baseline trained, precision 0.46, AUC 0.9983</a:t>
            </a:r>
            <a:endParaRPr lang="en-US" sz="1200" dirty="0"/>
          </a:p>
        </p:txBody>
      </p:sp>
      <p:sp>
        <p:nvSpPr>
          <p:cNvPr id="14" name="Shape 12"/>
          <p:cNvSpPr/>
          <p:nvPr/>
        </p:nvSpPr>
        <p:spPr>
          <a:xfrm>
            <a:off x="548640" y="2999232"/>
            <a:ext cx="8046720" cy="658368"/>
          </a:xfrm>
          <a:prstGeom prst="rect">
            <a:avLst/>
          </a:prstGeom>
          <a:solidFill>
            <a:srgbClr val="EEF2F7"/>
          </a:solidFill>
          <a:ln w="12700">
            <a:solidFill>
              <a:srgbClr val="DDDDDD"/>
            </a:solidFill>
            <a:prstDash val="solid"/>
          </a:ln>
        </p:spPr>
        <p:txBody>
          <a:bodyPr/>
          <a:lstStyle/>
          <a:p>
            <a:endParaRPr lang="en-US"/>
          </a:p>
        </p:txBody>
      </p:sp>
      <p:sp>
        <p:nvSpPr>
          <p:cNvPr id="15" name="Shape 13"/>
          <p:cNvSpPr/>
          <p:nvPr/>
        </p:nvSpPr>
        <p:spPr>
          <a:xfrm>
            <a:off x="548640" y="2999232"/>
            <a:ext cx="1371600" cy="658368"/>
          </a:xfrm>
          <a:prstGeom prst="rect">
            <a:avLst/>
          </a:prstGeom>
          <a:solidFill>
            <a:srgbClr val="0D1B2A"/>
          </a:solidFill>
          <a:ln/>
        </p:spPr>
        <p:txBody>
          <a:bodyPr/>
          <a:lstStyle/>
          <a:p>
            <a:endParaRPr lang="en-US"/>
          </a:p>
        </p:txBody>
      </p:sp>
      <p:sp>
        <p:nvSpPr>
          <p:cNvPr id="16" name="Text 14"/>
          <p:cNvSpPr/>
          <p:nvPr/>
        </p:nvSpPr>
        <p:spPr>
          <a:xfrm>
            <a:off x="548640" y="2999232"/>
            <a:ext cx="137160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 Jul 2026</a:t>
            </a:r>
            <a:endParaRPr lang="en-US" sz="1100" dirty="0"/>
          </a:p>
        </p:txBody>
      </p:sp>
      <p:sp>
        <p:nvSpPr>
          <p:cNvPr id="17" name="Text 15"/>
          <p:cNvSpPr/>
          <p:nvPr/>
        </p:nvSpPr>
        <p:spPr>
          <a:xfrm>
            <a:off x="2057400" y="3063240"/>
            <a:ext cx="6400800" cy="502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Notebook 03: Optuna 50 trials complete, Isolation Forest stacked, AUC 0.9985</a:t>
            </a:r>
            <a:endParaRPr lang="en-US" sz="1200" dirty="0"/>
          </a:p>
        </p:txBody>
      </p:sp>
      <p:sp>
        <p:nvSpPr>
          <p:cNvPr id="18" name="Shape 16"/>
          <p:cNvSpPr/>
          <p:nvPr/>
        </p:nvSpPr>
        <p:spPr>
          <a:xfrm>
            <a:off x="548640" y="3822192"/>
            <a:ext cx="8046720" cy="658368"/>
          </a:xfrm>
          <a:prstGeom prst="rect">
            <a:avLst/>
          </a:prstGeom>
          <a:solidFill>
            <a:srgbClr val="F7F7F7"/>
          </a:solidFill>
          <a:ln w="12700">
            <a:solidFill>
              <a:srgbClr val="DDDDDD"/>
            </a:solidFill>
            <a:prstDash val="solid"/>
          </a:ln>
        </p:spPr>
        <p:txBody>
          <a:bodyPr/>
          <a:lstStyle/>
          <a:p>
            <a:endParaRPr lang="en-US"/>
          </a:p>
        </p:txBody>
      </p:sp>
      <p:sp>
        <p:nvSpPr>
          <p:cNvPr id="19" name="Shape 17"/>
          <p:cNvSpPr/>
          <p:nvPr/>
        </p:nvSpPr>
        <p:spPr>
          <a:xfrm>
            <a:off x="548640" y="3822192"/>
            <a:ext cx="1371600" cy="658368"/>
          </a:xfrm>
          <a:prstGeom prst="rect">
            <a:avLst/>
          </a:prstGeom>
          <a:solidFill>
            <a:srgbClr val="0D1B2A"/>
          </a:solidFill>
          <a:ln/>
        </p:spPr>
        <p:txBody>
          <a:bodyPr/>
          <a:lstStyle/>
          <a:p>
            <a:endParaRPr lang="en-US"/>
          </a:p>
        </p:txBody>
      </p:sp>
      <p:sp>
        <p:nvSpPr>
          <p:cNvPr id="20" name="Text 18"/>
          <p:cNvSpPr/>
          <p:nvPr/>
        </p:nvSpPr>
        <p:spPr>
          <a:xfrm>
            <a:off x="548640" y="3822192"/>
            <a:ext cx="1371600"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14 Jul 2026</a:t>
            </a:r>
            <a:endParaRPr lang="en-US" sz="1100" dirty="0"/>
          </a:p>
        </p:txBody>
      </p:sp>
      <p:sp>
        <p:nvSpPr>
          <p:cNvPr id="21" name="Text 19"/>
          <p:cNvSpPr/>
          <p:nvPr/>
        </p:nvSpPr>
        <p:spPr>
          <a:xfrm>
            <a:off x="2057400" y="3886200"/>
            <a:ext cx="6400800" cy="502920"/>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Notebook 04: SHAP global and local plots generated, fraud example explained</a:t>
            </a:r>
            <a:endParaRPr lang="en-US" sz="1200" dirty="0"/>
          </a:p>
        </p:txBody>
      </p:sp>
      <p:sp>
        <p:nvSpPr>
          <p:cNvPr id="22" name="Text 20"/>
          <p:cNvSpPr/>
          <p:nvPr/>
        </p:nvSpPr>
        <p:spPr>
          <a:xfrm>
            <a:off x="548640" y="4681728"/>
            <a:ext cx="8046720" cy="274320"/>
          </a:xfrm>
          <a:prstGeom prst="rect">
            <a:avLst/>
          </a:prstGeom>
          <a:noFill/>
          <a:ln/>
        </p:spPr>
        <p:txBody>
          <a:bodyPr wrap="square" rtlCol="0" anchor="ctr"/>
          <a:lstStyle/>
          <a:p>
            <a:pPr marL="0" indent="0" algn="ctr">
              <a:buNone/>
            </a:pPr>
            <a:r>
              <a:rPr lang="en-US" sz="1200" b="1" dirty="0">
                <a:solidFill>
                  <a:srgbClr val="1B4F72"/>
                </a:solidFill>
                <a:latin typeface="Calibri" pitchFamily="34" charset="0"/>
                <a:ea typeface="Calibri" pitchFamily="34" charset="-122"/>
                <a:cs typeface="Calibri" pitchFamily="34" charset="-120"/>
              </a:rPr>
              <a:t>github.com/sudarshansangle2000/sentinelguard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Text 1"/>
          <p:cNvSpPr/>
          <p:nvPr/>
        </p:nvSpPr>
        <p:spPr>
          <a:xfrm>
            <a:off x="548640" y="256032"/>
            <a:ext cx="8046720" cy="594360"/>
          </a:xfrm>
          <a:prstGeom prst="rect">
            <a:avLst/>
          </a:prstGeom>
          <a:noFill/>
          <a:ln/>
        </p:spPr>
        <p:txBody>
          <a:bodyPr wrap="square"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Plan for Milestone 3 (August 20)</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marL="0" indent="0">
              <a:buNone/>
            </a:pPr>
            <a:r>
              <a:rPr lang="en-US" sz="1300" i="1" dirty="0">
                <a:solidFill>
                  <a:srgbClr val="888888"/>
                </a:solidFill>
                <a:latin typeface="Calibri" pitchFamily="34" charset="0"/>
                <a:ea typeface="Calibri" pitchFamily="34" charset="-122"/>
                <a:cs typeface="Calibri" pitchFamily="34" charset="-120"/>
              </a:rPr>
              <a:t>What I will complete between now and the final submission</a:t>
            </a:r>
            <a:endParaRPr lang="en-US" sz="1300" dirty="0"/>
          </a:p>
        </p:txBody>
      </p:sp>
      <p:sp>
        <p:nvSpPr>
          <p:cNvPr id="5" name="Shape 3"/>
          <p:cNvSpPr/>
          <p:nvPr/>
        </p:nvSpPr>
        <p:spPr>
          <a:xfrm>
            <a:off x="548640" y="1115568"/>
            <a:ext cx="8046720" cy="22860"/>
          </a:xfrm>
          <a:prstGeom prst="rect">
            <a:avLst/>
          </a:prstGeom>
          <a:solidFill>
            <a:srgbClr val="DDDDDD"/>
          </a:solidFill>
          <a:ln/>
        </p:spPr>
        <p:txBody>
          <a:bodyPr/>
          <a:lstStyle/>
          <a:p>
            <a:endParaRPr lang="en-US"/>
          </a:p>
        </p:txBody>
      </p:sp>
      <p:sp>
        <p:nvSpPr>
          <p:cNvPr id="6" name="Shape 4"/>
          <p:cNvSpPr/>
          <p:nvPr/>
        </p:nvSpPr>
        <p:spPr>
          <a:xfrm>
            <a:off x="548640" y="1298448"/>
            <a:ext cx="8046720" cy="749808"/>
          </a:xfrm>
          <a:prstGeom prst="rect">
            <a:avLst/>
          </a:prstGeom>
          <a:solidFill>
            <a:srgbClr val="EEF2F7"/>
          </a:solidFill>
          <a:ln w="12700">
            <a:solidFill>
              <a:srgbClr val="DDDDDD"/>
            </a:solidFill>
            <a:prstDash val="solid"/>
          </a:ln>
        </p:spPr>
        <p:txBody>
          <a:bodyPr/>
          <a:lstStyle/>
          <a:p>
            <a:endParaRPr lang="en-US"/>
          </a:p>
        </p:txBody>
      </p:sp>
      <p:sp>
        <p:nvSpPr>
          <p:cNvPr id="7" name="Shape 5"/>
          <p:cNvSpPr/>
          <p:nvPr/>
        </p:nvSpPr>
        <p:spPr>
          <a:xfrm>
            <a:off x="548640" y="1298448"/>
            <a:ext cx="594360" cy="749808"/>
          </a:xfrm>
          <a:prstGeom prst="rect">
            <a:avLst/>
          </a:prstGeom>
          <a:solidFill>
            <a:srgbClr val="0D1B2A"/>
          </a:solidFill>
          <a:ln/>
        </p:spPr>
        <p:txBody>
          <a:bodyPr/>
          <a:lstStyle/>
          <a:p>
            <a:endParaRPr lang="en-US"/>
          </a:p>
        </p:txBody>
      </p:sp>
      <p:sp>
        <p:nvSpPr>
          <p:cNvPr id="8" name="Text 6"/>
          <p:cNvSpPr/>
          <p:nvPr/>
        </p:nvSpPr>
        <p:spPr>
          <a:xfrm>
            <a:off x="548640" y="1298448"/>
            <a:ext cx="594360" cy="7498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1280160" y="1371600"/>
            <a:ext cx="713232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Cross-dataset validation</a:t>
            </a:r>
            <a:endParaRPr lang="en-US" sz="1300" dirty="0"/>
          </a:p>
        </p:txBody>
      </p:sp>
      <p:sp>
        <p:nvSpPr>
          <p:cNvPr id="10" name="Text 8"/>
          <p:cNvSpPr/>
          <p:nvPr/>
        </p:nvSpPr>
        <p:spPr>
          <a:xfrm>
            <a:off x="1280160" y="1664208"/>
            <a:ext cx="7132320" cy="32004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Run the model on the Kaggle Credit Card Fraud dataset which has 284k real European transactions. The published baseline AUC on this dataset is 0.979 from my literature review. Aim to beat it on real data not just synthetic PaySim.</a:t>
            </a:r>
            <a:endParaRPr lang="en-US" sz="1100" dirty="0"/>
          </a:p>
        </p:txBody>
      </p:sp>
      <p:sp>
        <p:nvSpPr>
          <p:cNvPr id="11" name="Shape 9"/>
          <p:cNvSpPr/>
          <p:nvPr/>
        </p:nvSpPr>
        <p:spPr>
          <a:xfrm>
            <a:off x="548640" y="2185416"/>
            <a:ext cx="8046720" cy="749808"/>
          </a:xfrm>
          <a:prstGeom prst="rect">
            <a:avLst/>
          </a:prstGeom>
          <a:solidFill>
            <a:srgbClr val="F7F7F7"/>
          </a:solidFill>
          <a:ln w="12700">
            <a:solidFill>
              <a:srgbClr val="DDDDDD"/>
            </a:solidFill>
            <a:prstDash val="solid"/>
          </a:ln>
        </p:spPr>
        <p:txBody>
          <a:bodyPr/>
          <a:lstStyle/>
          <a:p>
            <a:endParaRPr lang="en-US"/>
          </a:p>
        </p:txBody>
      </p:sp>
      <p:sp>
        <p:nvSpPr>
          <p:cNvPr id="12" name="Shape 10"/>
          <p:cNvSpPr/>
          <p:nvPr/>
        </p:nvSpPr>
        <p:spPr>
          <a:xfrm>
            <a:off x="548640" y="2185416"/>
            <a:ext cx="594360" cy="749808"/>
          </a:xfrm>
          <a:prstGeom prst="rect">
            <a:avLst/>
          </a:prstGeom>
          <a:solidFill>
            <a:srgbClr val="0D1B2A"/>
          </a:solidFill>
          <a:ln/>
        </p:spPr>
        <p:txBody>
          <a:bodyPr/>
          <a:lstStyle/>
          <a:p>
            <a:endParaRPr lang="en-US"/>
          </a:p>
        </p:txBody>
      </p:sp>
      <p:sp>
        <p:nvSpPr>
          <p:cNvPr id="13" name="Text 11"/>
          <p:cNvSpPr/>
          <p:nvPr/>
        </p:nvSpPr>
        <p:spPr>
          <a:xfrm>
            <a:off x="548640" y="2185416"/>
            <a:ext cx="594360" cy="7498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2"/>
          <p:cNvSpPr/>
          <p:nvPr/>
        </p:nvSpPr>
        <p:spPr>
          <a:xfrm>
            <a:off x="1280160" y="2258568"/>
            <a:ext cx="713232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Threshold adjustment</a:t>
            </a:r>
            <a:endParaRPr lang="en-US" sz="1300" dirty="0"/>
          </a:p>
        </p:txBody>
      </p:sp>
      <p:sp>
        <p:nvSpPr>
          <p:cNvPr id="15" name="Text 13"/>
          <p:cNvSpPr/>
          <p:nvPr/>
        </p:nvSpPr>
        <p:spPr>
          <a:xfrm>
            <a:off x="1280160" y="2551176"/>
            <a:ext cx="7132320" cy="32004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XGBoost uses 0.5 as the default cut-off. Raising the threshold trades some recall for higher precision. Target is to get precision above 0.90 before writing the final paper.</a:t>
            </a:r>
            <a:endParaRPr lang="en-US" sz="1100" dirty="0"/>
          </a:p>
        </p:txBody>
      </p:sp>
      <p:sp>
        <p:nvSpPr>
          <p:cNvPr id="16" name="Shape 14"/>
          <p:cNvSpPr/>
          <p:nvPr/>
        </p:nvSpPr>
        <p:spPr>
          <a:xfrm>
            <a:off x="548640" y="3072384"/>
            <a:ext cx="8046720" cy="749808"/>
          </a:xfrm>
          <a:prstGeom prst="rect">
            <a:avLst/>
          </a:prstGeom>
          <a:solidFill>
            <a:srgbClr val="EEF2F7"/>
          </a:solidFill>
          <a:ln w="12700">
            <a:solidFill>
              <a:srgbClr val="DDDDDD"/>
            </a:solidFill>
            <a:prstDash val="solid"/>
          </a:ln>
        </p:spPr>
        <p:txBody>
          <a:bodyPr/>
          <a:lstStyle/>
          <a:p>
            <a:endParaRPr lang="en-US"/>
          </a:p>
        </p:txBody>
      </p:sp>
      <p:sp>
        <p:nvSpPr>
          <p:cNvPr id="17" name="Shape 15"/>
          <p:cNvSpPr/>
          <p:nvPr/>
        </p:nvSpPr>
        <p:spPr>
          <a:xfrm>
            <a:off x="548640" y="3072384"/>
            <a:ext cx="594360" cy="749808"/>
          </a:xfrm>
          <a:prstGeom prst="rect">
            <a:avLst/>
          </a:prstGeom>
          <a:solidFill>
            <a:srgbClr val="0D1B2A"/>
          </a:solidFill>
          <a:ln/>
        </p:spPr>
        <p:txBody>
          <a:bodyPr/>
          <a:lstStyle/>
          <a:p>
            <a:endParaRPr lang="en-US"/>
          </a:p>
        </p:txBody>
      </p:sp>
      <p:sp>
        <p:nvSpPr>
          <p:cNvPr id="18" name="Text 16"/>
          <p:cNvSpPr/>
          <p:nvPr/>
        </p:nvSpPr>
        <p:spPr>
          <a:xfrm>
            <a:off x="548640" y="3072384"/>
            <a:ext cx="594360" cy="7498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1280160" y="3145536"/>
            <a:ext cx="713232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LIME alongside SHAP</a:t>
            </a:r>
            <a:endParaRPr lang="en-US" sz="1300" dirty="0"/>
          </a:p>
        </p:txBody>
      </p:sp>
      <p:sp>
        <p:nvSpPr>
          <p:cNvPr id="20" name="Text 18"/>
          <p:cNvSpPr/>
          <p:nvPr/>
        </p:nvSpPr>
        <p:spPr>
          <a:xfrm>
            <a:off x="1280160" y="3438144"/>
            <a:ext cx="7132320" cy="32004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Add LIME as a second explainability method and compare it to SHAP on the same transactions. Where both methods agree the explanation is more reliable.</a:t>
            </a:r>
            <a:endParaRPr lang="en-US" sz="1100" dirty="0"/>
          </a:p>
        </p:txBody>
      </p:sp>
      <p:sp>
        <p:nvSpPr>
          <p:cNvPr id="21" name="Shape 19"/>
          <p:cNvSpPr/>
          <p:nvPr/>
        </p:nvSpPr>
        <p:spPr>
          <a:xfrm>
            <a:off x="548640" y="3959352"/>
            <a:ext cx="8046720" cy="749808"/>
          </a:xfrm>
          <a:prstGeom prst="rect">
            <a:avLst/>
          </a:prstGeom>
          <a:solidFill>
            <a:srgbClr val="F7F7F7"/>
          </a:solidFill>
          <a:ln w="12700">
            <a:solidFill>
              <a:srgbClr val="DDDDDD"/>
            </a:solidFill>
            <a:prstDash val="solid"/>
          </a:ln>
        </p:spPr>
        <p:txBody>
          <a:bodyPr/>
          <a:lstStyle/>
          <a:p>
            <a:endParaRPr lang="en-US"/>
          </a:p>
        </p:txBody>
      </p:sp>
      <p:sp>
        <p:nvSpPr>
          <p:cNvPr id="22" name="Shape 20"/>
          <p:cNvSpPr/>
          <p:nvPr/>
        </p:nvSpPr>
        <p:spPr>
          <a:xfrm>
            <a:off x="548640" y="3959352"/>
            <a:ext cx="594360" cy="749808"/>
          </a:xfrm>
          <a:prstGeom prst="rect">
            <a:avLst/>
          </a:prstGeom>
          <a:solidFill>
            <a:srgbClr val="0D1B2A"/>
          </a:solidFill>
          <a:ln/>
        </p:spPr>
        <p:txBody>
          <a:bodyPr/>
          <a:lstStyle/>
          <a:p>
            <a:endParaRPr lang="en-US"/>
          </a:p>
        </p:txBody>
      </p:sp>
      <p:sp>
        <p:nvSpPr>
          <p:cNvPr id="23" name="Text 21"/>
          <p:cNvSpPr/>
          <p:nvPr/>
        </p:nvSpPr>
        <p:spPr>
          <a:xfrm>
            <a:off x="548640" y="3959352"/>
            <a:ext cx="594360" cy="74980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4" name="Text 22"/>
          <p:cNvSpPr/>
          <p:nvPr/>
        </p:nvSpPr>
        <p:spPr>
          <a:xfrm>
            <a:off x="1280160" y="4032504"/>
            <a:ext cx="7132320" cy="25603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IEEE paper on Overleaf</a:t>
            </a:r>
            <a:endParaRPr lang="en-US" sz="1300" dirty="0"/>
          </a:p>
        </p:txBody>
      </p:sp>
      <p:sp>
        <p:nvSpPr>
          <p:cNvPr id="25" name="Text 23"/>
          <p:cNvSpPr/>
          <p:nvPr/>
        </p:nvSpPr>
        <p:spPr>
          <a:xfrm>
            <a:off x="1280160" y="4325112"/>
            <a:ext cx="7132320" cy="32004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Write the full 12-page final research paper covering methodology, all experimental results, analysis, limitations, and conclusion. Due 20 August.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txBody>
          <a:bodyPr/>
          <a:lstStyle/>
          <a:p>
            <a:endParaRPr lang="en-US"/>
          </a:p>
        </p:txBody>
      </p:sp>
      <p:sp>
        <p:nvSpPr>
          <p:cNvPr id="3" name="Shape 1"/>
          <p:cNvSpPr/>
          <p:nvPr/>
        </p:nvSpPr>
        <p:spPr>
          <a:xfrm>
            <a:off x="0" y="4023360"/>
            <a:ext cx="9144000" cy="1115568"/>
          </a:xfrm>
          <a:prstGeom prst="rect">
            <a:avLst/>
          </a:prstGeom>
          <a:solidFill>
            <a:srgbClr val="1B4F72"/>
          </a:solidFill>
          <a:ln/>
        </p:spPr>
        <p:txBody>
          <a:bodyPr/>
          <a:lstStyle/>
          <a:p>
            <a:endParaRPr lang="en-US"/>
          </a:p>
        </p:txBody>
      </p:sp>
      <p:sp>
        <p:nvSpPr>
          <p:cNvPr id="4" name="Text 2"/>
          <p:cNvSpPr/>
          <p:nvPr/>
        </p:nvSpPr>
        <p:spPr>
          <a:xfrm>
            <a:off x="731520" y="548640"/>
            <a:ext cx="7680960" cy="6400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Summary</a:t>
            </a:r>
            <a:endParaRPr lang="en-US" sz="4000" dirty="0"/>
          </a:p>
        </p:txBody>
      </p:sp>
      <p:sp>
        <p:nvSpPr>
          <p:cNvPr id="5" name="Shape 3"/>
          <p:cNvSpPr/>
          <p:nvPr/>
        </p:nvSpPr>
        <p:spPr>
          <a:xfrm>
            <a:off x="731520" y="1371600"/>
            <a:ext cx="164592" cy="164592"/>
          </a:xfrm>
          <a:prstGeom prst="rect">
            <a:avLst/>
          </a:prstGeom>
          <a:solidFill>
            <a:srgbClr val="AAAACC"/>
          </a:solidFill>
          <a:ln/>
        </p:spPr>
        <p:txBody>
          <a:bodyPr/>
          <a:lstStyle/>
          <a:p>
            <a:endParaRPr lang="en-US"/>
          </a:p>
        </p:txBody>
      </p:sp>
      <p:sp>
        <p:nvSpPr>
          <p:cNvPr id="6" name="Text 4"/>
          <p:cNvSpPr/>
          <p:nvPr/>
        </p:nvSpPr>
        <p:spPr>
          <a:xfrm>
            <a:off x="1005840" y="1335024"/>
            <a:ext cx="7406640" cy="292608"/>
          </a:xfrm>
          <a:prstGeom prst="rect">
            <a:avLst/>
          </a:prstGeom>
          <a:noFill/>
          <a:ln/>
        </p:spPr>
        <p:txBody>
          <a:bodyPr wrap="square" rtlCol="0" anchor="ctr"/>
          <a:lstStyle/>
          <a:p>
            <a:pPr marL="0" indent="0">
              <a:buNone/>
            </a:pPr>
            <a:r>
              <a:rPr lang="en-US" sz="1300" dirty="0">
                <a:solidFill>
                  <a:srgbClr val="DDDDEE"/>
                </a:solidFill>
                <a:latin typeface="Calibri" pitchFamily="34" charset="0"/>
                <a:ea typeface="Calibri" pitchFamily="34" charset="-122"/>
                <a:cs typeface="Calibri" pitchFamily="34" charset="-120"/>
              </a:rPr>
              <a:t>4 notebooks complete covering EDA, modelling, tuning, and explainability</a:t>
            </a:r>
            <a:endParaRPr lang="en-US" sz="1300" dirty="0"/>
          </a:p>
        </p:txBody>
      </p:sp>
      <p:sp>
        <p:nvSpPr>
          <p:cNvPr id="7" name="Shape 5"/>
          <p:cNvSpPr/>
          <p:nvPr/>
        </p:nvSpPr>
        <p:spPr>
          <a:xfrm>
            <a:off x="731520" y="1874520"/>
            <a:ext cx="164592" cy="164592"/>
          </a:xfrm>
          <a:prstGeom prst="rect">
            <a:avLst/>
          </a:prstGeom>
          <a:solidFill>
            <a:srgbClr val="AAAACC"/>
          </a:solidFill>
          <a:ln/>
        </p:spPr>
        <p:txBody>
          <a:bodyPr/>
          <a:lstStyle/>
          <a:p>
            <a:endParaRPr lang="en-US"/>
          </a:p>
        </p:txBody>
      </p:sp>
      <p:sp>
        <p:nvSpPr>
          <p:cNvPr id="8" name="Text 6"/>
          <p:cNvSpPr/>
          <p:nvPr/>
        </p:nvSpPr>
        <p:spPr>
          <a:xfrm>
            <a:off x="1005840" y="1837944"/>
            <a:ext cx="7406640" cy="292608"/>
          </a:xfrm>
          <a:prstGeom prst="rect">
            <a:avLst/>
          </a:prstGeom>
          <a:noFill/>
          <a:ln/>
        </p:spPr>
        <p:txBody>
          <a:bodyPr wrap="square" rtlCol="0" anchor="ctr"/>
          <a:lstStyle/>
          <a:p>
            <a:pPr marL="0" indent="0">
              <a:buNone/>
            </a:pPr>
            <a:r>
              <a:rPr lang="en-US" sz="1300" dirty="0">
                <a:solidFill>
                  <a:srgbClr val="DDDDEE"/>
                </a:solidFill>
                <a:latin typeface="Calibri" pitchFamily="34" charset="0"/>
                <a:ea typeface="Calibri" pitchFamily="34" charset="-122"/>
                <a:cs typeface="Calibri" pitchFamily="34" charset="-120"/>
              </a:rPr>
              <a:t>AUC 0.9985 already beats the published baseline from the literature review</a:t>
            </a:r>
            <a:endParaRPr lang="en-US" sz="1300" dirty="0"/>
          </a:p>
        </p:txBody>
      </p:sp>
      <p:sp>
        <p:nvSpPr>
          <p:cNvPr id="9" name="Shape 7"/>
          <p:cNvSpPr/>
          <p:nvPr/>
        </p:nvSpPr>
        <p:spPr>
          <a:xfrm>
            <a:off x="731520" y="2377440"/>
            <a:ext cx="164592" cy="164592"/>
          </a:xfrm>
          <a:prstGeom prst="rect">
            <a:avLst/>
          </a:prstGeom>
          <a:solidFill>
            <a:srgbClr val="AAAACC"/>
          </a:solidFill>
          <a:ln/>
        </p:spPr>
        <p:txBody>
          <a:bodyPr/>
          <a:lstStyle/>
          <a:p>
            <a:endParaRPr lang="en-US"/>
          </a:p>
        </p:txBody>
      </p:sp>
      <p:sp>
        <p:nvSpPr>
          <p:cNvPr id="10" name="Text 8"/>
          <p:cNvSpPr/>
          <p:nvPr/>
        </p:nvSpPr>
        <p:spPr>
          <a:xfrm>
            <a:off x="1005840" y="2340864"/>
            <a:ext cx="7406640" cy="292608"/>
          </a:xfrm>
          <a:prstGeom prst="rect">
            <a:avLst/>
          </a:prstGeom>
          <a:noFill/>
          <a:ln/>
        </p:spPr>
        <p:txBody>
          <a:bodyPr wrap="square" rtlCol="0" anchor="ctr"/>
          <a:lstStyle/>
          <a:p>
            <a:pPr marL="0" indent="0">
              <a:buNone/>
            </a:pPr>
            <a:r>
              <a:rPr lang="en-US" sz="1300" dirty="0">
                <a:solidFill>
                  <a:srgbClr val="DDDDEE"/>
                </a:solidFill>
                <a:latin typeface="Calibri" pitchFamily="34" charset="0"/>
                <a:ea typeface="Calibri" pitchFamily="34" charset="-122"/>
                <a:cs typeface="Calibri" pitchFamily="34" charset="-120"/>
              </a:rPr>
              <a:t>Recall above 99% throughout, model catches almost all fraud</a:t>
            </a:r>
            <a:endParaRPr lang="en-US" sz="1300" dirty="0"/>
          </a:p>
        </p:txBody>
      </p:sp>
      <p:sp>
        <p:nvSpPr>
          <p:cNvPr id="11" name="Shape 9"/>
          <p:cNvSpPr/>
          <p:nvPr/>
        </p:nvSpPr>
        <p:spPr>
          <a:xfrm>
            <a:off x="731520" y="2880360"/>
            <a:ext cx="164592" cy="164592"/>
          </a:xfrm>
          <a:prstGeom prst="rect">
            <a:avLst/>
          </a:prstGeom>
          <a:solidFill>
            <a:srgbClr val="AAAACC"/>
          </a:solidFill>
          <a:ln/>
        </p:spPr>
        <p:txBody>
          <a:bodyPr/>
          <a:lstStyle/>
          <a:p>
            <a:endParaRPr lang="en-US"/>
          </a:p>
        </p:txBody>
      </p:sp>
      <p:sp>
        <p:nvSpPr>
          <p:cNvPr id="12" name="Text 10"/>
          <p:cNvSpPr/>
          <p:nvPr/>
        </p:nvSpPr>
        <p:spPr>
          <a:xfrm>
            <a:off x="1005840" y="2843784"/>
            <a:ext cx="7406640" cy="292608"/>
          </a:xfrm>
          <a:prstGeom prst="rect">
            <a:avLst/>
          </a:prstGeom>
          <a:noFill/>
          <a:ln/>
        </p:spPr>
        <p:txBody>
          <a:bodyPr wrap="square" rtlCol="0" anchor="ctr"/>
          <a:lstStyle/>
          <a:p>
            <a:pPr marL="0" indent="0">
              <a:buNone/>
            </a:pPr>
            <a:r>
              <a:rPr lang="en-US" sz="1300" dirty="0">
                <a:solidFill>
                  <a:srgbClr val="DDDDEE"/>
                </a:solidFill>
                <a:latin typeface="Calibri" pitchFamily="34" charset="0"/>
                <a:ea typeface="Calibri" pitchFamily="34" charset="-122"/>
                <a:cs typeface="Calibri" pitchFamily="34" charset="-120"/>
              </a:rPr>
              <a:t>GitHub commit history shows steady development over the past few weeks</a:t>
            </a:r>
            <a:endParaRPr lang="en-US" sz="1300" dirty="0"/>
          </a:p>
        </p:txBody>
      </p:sp>
      <p:sp>
        <p:nvSpPr>
          <p:cNvPr id="13" name="Shape 11"/>
          <p:cNvSpPr/>
          <p:nvPr/>
        </p:nvSpPr>
        <p:spPr>
          <a:xfrm>
            <a:off x="731520" y="3383280"/>
            <a:ext cx="164592" cy="164592"/>
          </a:xfrm>
          <a:prstGeom prst="rect">
            <a:avLst/>
          </a:prstGeom>
          <a:solidFill>
            <a:srgbClr val="AAAACC"/>
          </a:solidFill>
          <a:ln/>
        </p:spPr>
        <p:txBody>
          <a:bodyPr/>
          <a:lstStyle/>
          <a:p>
            <a:endParaRPr lang="en-US"/>
          </a:p>
        </p:txBody>
      </p:sp>
      <p:sp>
        <p:nvSpPr>
          <p:cNvPr id="14" name="Text 12"/>
          <p:cNvSpPr/>
          <p:nvPr/>
        </p:nvSpPr>
        <p:spPr>
          <a:xfrm>
            <a:off x="1005840" y="3346704"/>
            <a:ext cx="7406640" cy="292608"/>
          </a:xfrm>
          <a:prstGeom prst="rect">
            <a:avLst/>
          </a:prstGeom>
          <a:noFill/>
          <a:ln/>
        </p:spPr>
        <p:txBody>
          <a:bodyPr wrap="square" rtlCol="0" anchor="ctr"/>
          <a:lstStyle/>
          <a:p>
            <a:pPr marL="0" indent="0">
              <a:buNone/>
            </a:pPr>
            <a:r>
              <a:rPr lang="en-US" sz="1300" dirty="0">
                <a:solidFill>
                  <a:srgbClr val="DDDDEE"/>
                </a:solidFill>
                <a:latin typeface="Calibri" pitchFamily="34" charset="0"/>
                <a:ea typeface="Calibri" pitchFamily="34" charset="-122"/>
                <a:cs typeface="Calibri" pitchFamily="34" charset="-120"/>
              </a:rPr>
              <a:t>Clear plan for August: cross-validation, precision tuning, LIME, IEEE paper</a:t>
            </a:r>
            <a:endParaRPr lang="en-US" sz="1300" dirty="0"/>
          </a:p>
        </p:txBody>
      </p:sp>
      <p:sp>
        <p:nvSpPr>
          <p:cNvPr id="15" name="Text 13"/>
          <p:cNvSpPr/>
          <p:nvPr/>
        </p:nvSpPr>
        <p:spPr>
          <a:xfrm>
            <a:off x="731520" y="4114800"/>
            <a:ext cx="7680960" cy="320040"/>
          </a:xfrm>
          <a:prstGeom prst="rect">
            <a:avLst/>
          </a:prstGeom>
          <a:noFill/>
          <a:ln/>
        </p:spPr>
        <p:txBody>
          <a:bodyPr wrap="square" rtlCol="0" anchor="ctr"/>
          <a:lstStyle/>
          <a:p>
            <a:pPr marL="0" indent="0" algn="ctr">
              <a:buNone/>
            </a:pPr>
            <a:r>
              <a:rPr lang="en-US" sz="1300" dirty="0">
                <a:solidFill>
                  <a:srgbClr val="CCCCDD"/>
                </a:solidFill>
                <a:latin typeface="Calibri" pitchFamily="34" charset="0"/>
                <a:ea typeface="Calibri" pitchFamily="34" charset="-122"/>
                <a:cs typeface="Calibri" pitchFamily="34" charset="-120"/>
              </a:rPr>
              <a:t>Happy to go through any notebook in more detail or answer questions.</a:t>
            </a:r>
            <a:endParaRPr lang="en-US" sz="1300" dirty="0"/>
          </a:p>
        </p:txBody>
      </p:sp>
      <p:sp>
        <p:nvSpPr>
          <p:cNvPr id="16" name="Text 14"/>
          <p:cNvSpPr/>
          <p:nvPr/>
        </p:nvSpPr>
        <p:spPr>
          <a:xfrm>
            <a:off x="731520" y="4462272"/>
            <a:ext cx="7680960" cy="256032"/>
          </a:xfrm>
          <a:prstGeom prst="rect">
            <a:avLst/>
          </a:prstGeom>
          <a:noFill/>
          <a:ln/>
        </p:spPr>
        <p:txBody>
          <a:bodyPr wrap="square" rtlCol="0" anchor="ctr"/>
          <a:lstStyle/>
          <a:p>
            <a:pPr marL="0" indent="0" algn="ctr">
              <a:buNone/>
            </a:pPr>
            <a:r>
              <a:rPr lang="en-US" sz="1100" dirty="0">
                <a:solidFill>
                  <a:srgbClr val="888899"/>
                </a:solidFill>
                <a:latin typeface="Calibri" pitchFamily="34" charset="0"/>
                <a:ea typeface="Calibri" pitchFamily="34" charset="-122"/>
                <a:cs typeface="Calibri" pitchFamily="34" charset="-120"/>
              </a:rPr>
              <a:t>github.com/sudarshansangle2000/sentinelguard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197</TotalTime>
  <Words>2737</Words>
  <Application>Microsoft Macintosh PowerPoint</Application>
  <PresentationFormat>On-screen Show (16:9)</PresentationFormat>
  <Paragraphs>239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Sangle, Sudarshan Pandurang</cp:lastModifiedBy>
  <cp:revision>4</cp:revision>
  <dcterms:created xsi:type="dcterms:W3CDTF">2026-07-20T13:33:41Z</dcterms:created>
  <dcterms:modified xsi:type="dcterms:W3CDTF">2026-07-28T08:23:43Z</dcterms:modified>
</cp:coreProperties>
</file>